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dc4ca31c3b4458" /><Relationship Type="http://schemas.openxmlformats.org/officeDocument/2006/relationships/extended-properties" Target="/docProps/app.xml" Id="Rc8eb612c4d2341a1" /><Relationship Type="http://schemas.openxmlformats.org/officeDocument/2006/relationships/officeDocument" Target="/ppt/presentation.xml" Id="R1c85f37b37624dad" /></Relationships>
</file>

<file path=ppt/presentation.xml><?xml version="1.0" encoding="utf-8"?>
<p:presentation xmlns:p="http://schemas.openxmlformats.org/presentationml/2006/main">
  <p:sldMasterIdLst>
    <p:sldMasterId xmlns:r="http://schemas.openxmlformats.org/officeDocument/2006/relationships" id="2147483648" r:id="Rc985ab9800af4707"/>
  </p:sldMasterIdLst>
  <p:notesMasterIdLst>
    <p:notesMasterId xmlns:r="http://schemas.openxmlformats.org/officeDocument/2006/relationships" r:id="Re3a3d48288694a40"/>
  </p:notesMasterIdLst>
  <p:sldIdLst>
    <p:sldId xmlns:r="http://schemas.openxmlformats.org/officeDocument/2006/relationships" id="256" r:id="Rec06c5097d284f98"/>
    <p:sldId xmlns:r="http://schemas.openxmlformats.org/officeDocument/2006/relationships" id="257" r:id="R8a56e3a631464704"/>
    <p:sldId xmlns:r="http://schemas.openxmlformats.org/officeDocument/2006/relationships" id="258" r:id="R56859a495b0e4c08"/>
    <p:sldId xmlns:r="http://schemas.openxmlformats.org/officeDocument/2006/relationships" id="259" r:id="R649754440d7a4bb9"/>
    <p:sldId xmlns:r="http://schemas.openxmlformats.org/officeDocument/2006/relationships" id="260" r:id="R4d02c3bc0e2a4212"/>
    <p:sldId xmlns:r="http://schemas.openxmlformats.org/officeDocument/2006/relationships" id="261" r:id="R814a11b3c06341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c738f33e4d475a" /><Relationship Type="http://schemas.openxmlformats.org/officeDocument/2006/relationships/slideMaster" Target="/ppt/slideMasters/slideMaster1.xml" Id="Rc985ab9800af4707" /><Relationship Type="http://schemas.openxmlformats.org/officeDocument/2006/relationships/notesMaster" Target="/ppt/notesMasters/notesMaster1.xml" Id="Re3a3d48288694a40" /><Relationship Type="http://schemas.openxmlformats.org/officeDocument/2006/relationships/presProps" Target="/ppt/presProps.xml" Id="Re7d7f453b4ff4781" /><Relationship Type="http://schemas.openxmlformats.org/officeDocument/2006/relationships/tableStyles" Target="/ppt/tableStyles.xml" Id="Rb839f796701f4d63" /><Relationship Type="http://schemas.openxmlformats.org/officeDocument/2006/relationships/slide" Target="/ppt/slides/slide1.xml" Id="Rec06c5097d284f98" /><Relationship Type="http://schemas.openxmlformats.org/officeDocument/2006/relationships/slide" Target="/ppt/slides/slide2.xml" Id="R8a56e3a631464704" /><Relationship Type="http://schemas.openxmlformats.org/officeDocument/2006/relationships/slide" Target="/ppt/slides/slide3.xml" Id="R56859a495b0e4c08" /><Relationship Type="http://schemas.openxmlformats.org/officeDocument/2006/relationships/slide" Target="/ppt/slides/slide4.xml" Id="R649754440d7a4bb9" /><Relationship Type="http://schemas.openxmlformats.org/officeDocument/2006/relationships/slide" Target="/ppt/slides/slide5.xml" Id="R4d02c3bc0e2a4212" /><Relationship Type="http://schemas.openxmlformats.org/officeDocument/2006/relationships/slide" Target="/ppt/slides/slide6.xml" Id="R814a11b3c06341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45ad0ec56f49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7630b71c71482e" /><Relationship Type="http://schemas.openxmlformats.org/officeDocument/2006/relationships/notesMaster" Target="/ppt/notesMasters/notesMaster1.xml" Id="Rc7e646d5838545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7e0af4d10e4be3" /><Relationship Type="http://schemas.openxmlformats.org/officeDocument/2006/relationships/notesMaster" Target="/ppt/notesMasters/notesMaster1.xml" Id="R1e2e5d2ac22147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f8b52d6d3745d1" /><Relationship Type="http://schemas.openxmlformats.org/officeDocument/2006/relationships/notesMaster" Target="/ppt/notesMasters/notesMaster1.xml" Id="R08dddb8a0a4041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3e2652987441ff" /><Relationship Type="http://schemas.openxmlformats.org/officeDocument/2006/relationships/notesMaster" Target="/ppt/notesMasters/notesMaster1.xml" Id="R02d3f661120644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a4b3da161348b5" /><Relationship Type="http://schemas.openxmlformats.org/officeDocument/2006/relationships/notesMaster" Target="/ppt/notesMasters/notesMaster1.xml" Id="R29bd6ea1e1834a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48807cd5e54acd" /><Relationship Type="http://schemas.openxmlformats.org/officeDocument/2006/relationships/notesMaster" Target="/ppt/notesMasters/notesMaster1.xml" Id="R5cf0874cc3b942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product requirements from this conversation and local implementation in shared/types.ts, server/room.ts, server/index.ts, server/codex.ts, server/git.ts, and src/App.tsx. Local runner architecture describes the Codex and Claude adapters in this prototype. This deck does not claim completed verification across separate computers.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product requirements from this conversation and local implementation in shared/types.ts, server/room.ts, server/index.ts, server/codex.ts, server/git.ts, and src/App.tsx. Local runner architecture describes the Codex and Claude adapters in this prototype. This deck does not claim completed verification across separate computers.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product requirements from this conversation and local implementation in shared/types.ts, server/room.ts, server/index.ts, server/codex.ts, server/git.ts, and src/App.tsx. Local runner architecture describes the Codex and Claude adapters in this prototype. This deck does not claim completed verification across separate computers.</a:t>
            </a:r>
          </a:p>
          <a:p xmlns:a="http://schemas.openxmlformats.org/drawingml/2006/main">
            <a:r>
              <a:t>This slide describes the local runner architecture implemented in the prototype. The existing host mode runs all Codex agents on the server machine. A browser alone does not clone or execute a harness. Teammates install and pair a local runner. Server messages need room, member, agent, repository, and commit identity. Codex uses the local CLI login. The Claude runner uses the local Claude login or local ANTHROPIC_API_KEY/provider credentials. It does not collect credentials in the browser. The June 16, 2026 Help Center article includes a June 15 update saying the announced usage changes are paused, and native SDK and third-party app usage still draw from subscription limits. This current banner takes precedence over the superseded policy text below it. Source: https://support.claude.com/en/articles/15036540-use-the-claude-agent-sdk-with-your-claude-plan. API/provider authentication reference: https://code.claude.com/docs/en/agent-sdk/quickstart (both accessed October 3, 2026). Local credentials are not relayed through room chat or transcripts.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product requirements from this conversation and local implementation in shared/types.ts, server/room.ts, server/index.ts, server/codex.ts, server/git.ts, and src/App.tsx. Local runner architecture describes the Codex and Claude adapters in this prototype. This deck does not claim completed verification across separate computers.</a:t>
            </a:r>
          </a:p>
          <a:p xmlns:a="http://schemas.openxmlformats.org/drawingml/2006/main">
            <a:r>
              <a:t>At the deadline, every team vote transitions to owner-needed. A winning tally never resolves the request automatically. Only the decision owner selects and approves the answer. The room host cannot override another member’s decision. Permission requests remain separate from team votes. Chat continues during the owner-needed stage and becomes read-only after resolution or cancellation.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product requirements from this conversation and local implementation in shared/types.ts, server/room.ts, server/index.ts, server/codex.ts, server/git.ts, and src/App.tsx. Local runner architecture describes the Codex and Claude adapters in this prototype. This deck does not claim completed verification across separate computers.</a:t>
            </a:r>
          </a:p>
          <a:p xmlns:a="http://schemas.openxmlformats.org/drawingml/2006/main">
            <a:r>
              <a:t>The example path is illustrative. Current host mode detects overlap when different agents report the same changed relative path. This can be useful before merge, but does not prove incompatible changes. Local runners should report repository identity, base commit, and changed paths so the central server can compare related work. Approved decisions guide agents. Git review and manual integration still determine which code ships.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product requirements from this conversation and local implementation in shared/types.ts, server/room.ts, server/index.ts, server/codex.ts, server/git.ts, and src/App.tsx. Local runner architecture describes the Codex and Claude adapters in this prototype. This deck does not claim completed verification across separate computers.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5c662604c14c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95c9fb025a4dd4" /><Relationship Type="http://schemas.openxmlformats.org/officeDocument/2006/relationships/slideLayout" Target="/ppt/slideLayouts/slideLayout1.xml" Id="R155db77a221f43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5db77a221f43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579a24e5944392" /><Relationship Type="http://schemas.openxmlformats.org/officeDocument/2006/relationships/notesSlide" Target="/ppt/notesSlides/notesSlide1.xml" Id="Ra341ae60333346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a0507be0544b28" /><Relationship Type="http://schemas.openxmlformats.org/officeDocument/2006/relationships/notesSlide" Target="/ppt/notesSlides/notesSlide2.xml" Id="R96fc02f0076e4c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3a1ae5c9bb4188" /><Relationship Type="http://schemas.openxmlformats.org/officeDocument/2006/relationships/notesSlide" Target="/ppt/notesSlides/notesSlide3.xml" Id="R9a7acaee5bef43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806024cc6c45e7" /><Relationship Type="http://schemas.openxmlformats.org/officeDocument/2006/relationships/notesSlide" Target="/ppt/notesSlides/notesSlide4.xml" Id="R01adc0a1655147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4392a88dfc4f1d" /><Relationship Type="http://schemas.openxmlformats.org/officeDocument/2006/relationships/notesSlide" Target="/ppt/notesSlides/notesSlide5.xml" Id="R63ee75a7cf984b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86500f92b74db5" /><Relationship Type="http://schemas.openxmlformats.org/officeDocument/2006/relationships/notesSlide" Target="/ppt/notesSlides/notesSlide6.xml" Id="Rc925686aee9d4d56" /></Relationships>
</file>

<file path=ppt/slides/slide1.xml><?xml version="1.0" encoding="utf-8"?>
<p:sld xmlns:p="http://schemas.openxmlformats.org/presentationml/2006/main">
  <p:cSld>
    <p:bg>
      <p:bgPr>
        <a:solidFill xmlns:a="http://schemas.openxmlformats.org/drawingml/2006/main">
          <a:srgbClr val="131D18"/>
        </a:solidFill>
      </p:bgPr>
    </p:bg>
    <p:spTree>
      <p:nvGrpSpPr>
        <p:cNvPr id="1" name=""/>
        <p:cNvGrpSpPr/>
        <p:nvPr/>
      </p:nvGrpSpPr>
      <p:grpSpPr>
        <a:xfrm xmlns:a="http://schemas.openxmlformats.org/drawingml/2006/main"/>
      </p:grpSpPr>
      <p:sp>
        <p:nvSpPr>
          <p:cNvPr id="5" name="Multiplayer">
            <a:extLst xmlns:a="http://schemas.openxmlformats.org/drawingml/2006/main">
              <a:ext uri="{FF2B5EF4-FFF2-40B4-BE49-F238E27FC236}">
                <a16:creationId xmlns:a16="http://schemas.microsoft.com/office/drawing/2014/main" id="{30CD0C97-7B72-4D5B-9712-2D37AF74CAB6}"/>
              </a:ext>
            </a:extLst>
          </p:cNvPr>
          <p:cNvSpPr>
            <a:spLocks xmlns:a="http://schemas.openxmlformats.org/drawingml/2006/main" noGrp="1"/>
          </p:cNvSpPr>
          <p:nvPr/>
        </p:nvSpPr>
        <p:spPr>
          <a:xfrm xmlns:a="http://schemas.openxmlformats.org/drawingml/2006/main">
            <a:off x="609600" y="1123950"/>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950" b="1">
                <a:solidFill>
                  <a:srgbClr val="C5F17A"/>
                </a:solidFill>
                <a:latin typeface="Helvetica Neue"/>
                <a:ea typeface="Helvetica Neue"/>
                <a:cs typeface="Helvetica Neue"/>
              </a:defRPr>
            </a:pPr>
            <a:r>
              <a:rPr sz="7950" b="1">
                <a:solidFill>
                  <a:srgbClr val="C5F17A"/>
                </a:solidFill>
                <a:latin typeface="Helvetica Neue"/>
                <a:ea typeface="Helvetica Neue"/>
                <a:cs typeface="Helvetica Neue"/>
              </a:rPr>
              <a:t>Multiplayer</a:t>
            </a:r>
          </a:p>
        </p:txBody>
      </p:sp>
      <p:sp>
        <p:nvSpPr>
          <p:cNvPr id="2" name="agentic coding">
            <a:extLst xmlns:a="http://schemas.openxmlformats.org/drawingml/2006/main">
              <a:ext uri="{FF2B5EF4-FFF2-40B4-BE49-F238E27FC236}">
                <a16:creationId xmlns:a16="http://schemas.microsoft.com/office/drawing/2014/main" id="{A05E2046-6277-4310-95E0-D3FE499E2189}"/>
              </a:ext>
            </a:extLst>
          </p:cNvPr>
          <p:cNvSpPr>
            <a:spLocks xmlns:a="http://schemas.openxmlformats.org/drawingml/2006/main" noGrp="1"/>
          </p:cNvSpPr>
          <p:nvPr/>
        </p:nvSpPr>
        <p:spPr>
          <a:xfrm xmlns:a="http://schemas.openxmlformats.org/drawingml/2006/main">
            <a:off x="609600" y="2286000"/>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950" b="1">
                <a:solidFill>
                  <a:srgbClr val="F1F3EC"/>
                </a:solidFill>
                <a:latin typeface="Helvetica Neue"/>
                <a:ea typeface="Helvetica Neue"/>
                <a:cs typeface="Helvetica Neue"/>
              </a:defRPr>
            </a:pPr>
            <a:r>
              <a:rPr sz="7950" b="1">
                <a:solidFill>
                  <a:srgbClr val="F1F3EC"/>
                </a:solidFill>
                <a:latin typeface="Helvetica Neue"/>
                <a:ea typeface="Helvetica Neue"/>
                <a:cs typeface="Helvetica Neue"/>
              </a:rPr>
              <a:t>agentic coding</a:t>
            </a:r>
          </a:p>
        </p:txBody>
      </p:sp>
      <p:sp>
        <p:nvSpPr>
          <p:cNvPr id="3" name="One shared room for teammates&#10;and their ">
            <a:extLst xmlns:a="http://schemas.openxmlformats.org/drawingml/2006/main">
              <a:ext uri="{FF2B5EF4-FFF2-40B4-BE49-F238E27FC236}">
                <a16:creationId xmlns:a16="http://schemas.microsoft.com/office/drawing/2014/main" id="{D158BF39-5864-47AD-879A-634C247AB0D2}"/>
              </a:ext>
            </a:extLst>
          </p:cNvPr>
          <p:cNvSpPr>
            <a:spLocks xmlns:a="http://schemas.openxmlformats.org/drawingml/2006/main" noGrp="1"/>
          </p:cNvSpPr>
          <p:nvPr/>
        </p:nvSpPr>
        <p:spPr>
          <a:xfrm xmlns:a="http://schemas.openxmlformats.org/drawingml/2006/main">
            <a:off x="647700" y="4257675"/>
            <a:ext cx="9525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B2C0B4"/>
                </a:solidFill>
                <a:latin typeface="Helvetica Neue"/>
                <a:ea typeface="Helvetica Neue"/>
                <a:cs typeface="Helvetica Neue"/>
              </a:defRPr>
            </a:pPr>
            <a:r>
              <a:rPr sz="3000" b="0">
                <a:solidFill>
                  <a:srgbClr val="B2C0B4"/>
                </a:solidFill>
                <a:latin typeface="Helvetica Neue"/>
                <a:ea typeface="Helvetica Neue"/>
                <a:cs typeface="Helvetica Neue"/>
              </a:rPr>
              <a:t>One shared room for teammates</a:t>
            </a:r>
          </a:p>
          <a:p xmlns:a="http://schemas.openxmlformats.org/drawingml/2006/main">
            <a:pPr algn="l">
              <a:defRPr sz="3000" b="0">
                <a:solidFill>
                  <a:srgbClr val="B2C0B4"/>
                </a:solidFill>
                <a:latin typeface="Helvetica Neue"/>
                <a:ea typeface="Helvetica Neue"/>
                <a:cs typeface="Helvetica Neue"/>
              </a:defRPr>
            </a:pPr>
            <a:r>
              <a:rPr sz="3000" b="0">
                <a:solidFill>
                  <a:srgbClr val="B2C0B4"/>
                </a:solidFill>
                <a:latin typeface="Helvetica Neue"/>
                <a:ea typeface="Helvetica Neue"/>
                <a:cs typeface="Helvetica Neue"/>
              </a:rPr>
              <a:t>and their coding agents</a:t>
            </a:r>
          </a:p>
        </p:txBody>
      </p:sp>
      <p:sp>
        <p:nvSpPr>
          <p:cNvPr id="4" name="Hackathon architecture">
            <a:extLst xmlns:a="http://schemas.openxmlformats.org/drawingml/2006/main">
              <a:ext uri="{FF2B5EF4-FFF2-40B4-BE49-F238E27FC236}">
                <a16:creationId xmlns:a16="http://schemas.microsoft.com/office/drawing/2014/main" id="{1E296A6F-1406-43FC-AF5A-5F2A70A1A22E}"/>
              </a:ext>
            </a:extLst>
          </p:cNvPr>
          <p:cNvSpPr>
            <a:spLocks xmlns:a="http://schemas.openxmlformats.org/drawingml/2006/main" noGrp="1"/>
          </p:cNvSpPr>
          <p:nvPr/>
        </p:nvSpPr>
        <p:spPr>
          <a:xfrm xmlns:a="http://schemas.openxmlformats.org/drawingml/2006/main">
            <a:off x="647700" y="6010275"/>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C3B6F4"/>
                </a:solidFill>
                <a:latin typeface="Helvetica Neue"/>
                <a:ea typeface="Helvetica Neue"/>
                <a:cs typeface="Helvetica Neue"/>
              </a:defRPr>
            </a:pPr>
            <a:r>
              <a:rPr sz="1875" b="0">
                <a:solidFill>
                  <a:srgbClr val="C3B6F4"/>
                </a:solidFill>
                <a:latin typeface="Helvetica Neue"/>
                <a:ea typeface="Helvetica Neue"/>
                <a:cs typeface="Helvetica Neue"/>
              </a:rPr>
              <a:t>Hackathon architecture</a:t>
            </a:r>
          </a:p>
        </p:txBody>
      </p:sp>
    </p:spTree>
    <p:extLst>
      <p:ext uri="{BB962C8B-B14F-4D97-AF65-F5344CB8AC3E}">
        <p14:creationId xmlns:p14="http://schemas.microsoft.com/office/powerpoint/2010/main" val="72084465"/>
      </p:ext>
    </p:extLst>
  </p:cSld>
</p:sld>
</file>

<file path=ppt/slides/slide2.xml><?xml version="1.0" encoding="utf-8"?>
<p:sld xmlns:p="http://schemas.openxmlformats.org/presentationml/2006/main">
  <p:cSld>
    <p:bg>
      <p:bgPr>
        <a:solidFill xmlns:a="http://schemas.openxmlformats.org/drawingml/2006/main">
          <a:srgbClr val="131D18"/>
        </a:solidFill>
      </p:bgPr>
    </p:bg>
    <p:spTree>
      <p:nvGrpSpPr>
        <p:cNvPr id="1" name=""/>
        <p:cNvGrpSpPr/>
        <p:nvPr/>
      </p:nvGrpSpPr>
      <p:grpSpPr>
        <a:xfrm xmlns:a="http://schemas.openxmlformats.org/drawingml/2006/main"/>
      </p:grpSpPr>
      <p:sp>
        <p:nvSpPr>
          <p:cNvPr id="17" name="A shared view of parallel work">
            <a:extLst xmlns:a="http://schemas.openxmlformats.org/drawingml/2006/main">
              <a:ext uri="{FF2B5EF4-FFF2-40B4-BE49-F238E27FC236}">
                <a16:creationId xmlns:a16="http://schemas.microsoft.com/office/drawing/2014/main" id="{6B498EA0-18CD-4338-A305-A6FDF5DCAB17}"/>
              </a:ext>
            </a:extLst>
          </p:cNvPr>
          <p:cNvSpPr>
            <a:spLocks xmlns:a="http://schemas.openxmlformats.org/drawingml/2006/main" noGrp="1"/>
          </p:cNvSpPr>
          <p:nvPr/>
        </p:nvSpPr>
        <p:spPr>
          <a:xfrm xmlns:a="http://schemas.openxmlformats.org/drawingml/2006/main">
            <a:off x="609600" y="4953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F1F3EC"/>
                </a:solidFill>
                <a:latin typeface="Helvetica Neue"/>
                <a:ea typeface="Helvetica Neue"/>
                <a:cs typeface="Helvetica Neue"/>
              </a:defRPr>
            </a:pPr>
            <a:r>
              <a:rPr sz="3900" b="1">
                <a:solidFill>
                  <a:srgbClr val="F1F3EC"/>
                </a:solidFill>
                <a:latin typeface="Helvetica Neue"/>
                <a:ea typeface="Helvetica Neue"/>
                <a:cs typeface="Helvetica Neue"/>
              </a:rPr>
              <a:t>A shared view of parallel work</a:t>
            </a:r>
          </a:p>
        </p:txBody>
      </p:sp>
      <p:sp>
        <p:nvSpPr>
          <p:cNvPr id="2" name="Any teammate&#10;can start a room">
            <a:extLst xmlns:a="http://schemas.openxmlformats.org/drawingml/2006/main">
              <a:ext uri="{FF2B5EF4-FFF2-40B4-BE49-F238E27FC236}">
                <a16:creationId xmlns:a16="http://schemas.microsoft.com/office/drawing/2014/main" id="{026057D8-EE36-42CA-BC2A-92A55EB2A3EA}"/>
              </a:ext>
            </a:extLst>
          </p:cNvPr>
          <p:cNvSpPr>
            <a:spLocks xmlns:a="http://schemas.openxmlformats.org/drawingml/2006/main" noGrp="1"/>
          </p:cNvSpPr>
          <p:nvPr/>
        </p:nvSpPr>
        <p:spPr>
          <a:xfrm xmlns:a="http://schemas.openxmlformats.org/drawingml/2006/main">
            <a:off x="609600" y="1828800"/>
            <a:ext cx="4667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C5F17A"/>
                </a:solidFill>
                <a:latin typeface="Helvetica Neue"/>
                <a:ea typeface="Helvetica Neue"/>
                <a:cs typeface="Helvetica Neue"/>
              </a:defRPr>
            </a:pPr>
            <a:r>
              <a:rPr sz="4350" b="1">
                <a:solidFill>
                  <a:srgbClr val="C5F17A"/>
                </a:solidFill>
                <a:latin typeface="Helvetica Neue"/>
                <a:ea typeface="Helvetica Neue"/>
                <a:cs typeface="Helvetica Neue"/>
              </a:rPr>
              <a:t>Any teammate</a:t>
            </a:r>
          </a:p>
          <a:p xmlns:a="http://schemas.openxmlformats.org/drawingml/2006/main">
            <a:pPr algn="l">
              <a:defRPr sz="4350" b="1">
                <a:solidFill>
                  <a:srgbClr val="C5F17A"/>
                </a:solidFill>
                <a:latin typeface="Helvetica Neue"/>
                <a:ea typeface="Helvetica Neue"/>
                <a:cs typeface="Helvetica Neue"/>
              </a:defRPr>
            </a:pPr>
            <a:r>
              <a:rPr sz="4350" b="1">
                <a:solidFill>
                  <a:srgbClr val="C5F17A"/>
                </a:solidFill>
                <a:latin typeface="Helvetica Neue"/>
                <a:ea typeface="Helvetica Neue"/>
                <a:cs typeface="Helvetica Neue"/>
              </a:rPr>
              <a:t>can start a room</a:t>
            </a:r>
          </a:p>
        </p:txBody>
      </p:sp>
      <p:sp>
        <p:nvSpPr>
          <p:cNvPr id="3" name="Everyone follows the project&#10;through liv">
            <a:extLst xmlns:a="http://schemas.openxmlformats.org/drawingml/2006/main">
              <a:ext uri="{FF2B5EF4-FFF2-40B4-BE49-F238E27FC236}">
                <a16:creationId xmlns:a16="http://schemas.microsoft.com/office/drawing/2014/main" id="{A797AAA4-490B-4D0F-AB5E-B0D107E3E411}"/>
              </a:ext>
            </a:extLst>
          </p:cNvPr>
          <p:cNvSpPr>
            <a:spLocks xmlns:a="http://schemas.openxmlformats.org/drawingml/2006/main" noGrp="1"/>
          </p:cNvSpPr>
          <p:nvPr/>
        </p:nvSpPr>
        <p:spPr>
          <a:xfrm xmlns:a="http://schemas.openxmlformats.org/drawingml/2006/main">
            <a:off x="609600" y="3857625"/>
            <a:ext cx="4667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B2C0B4"/>
                </a:solidFill>
                <a:latin typeface="Helvetica Neue"/>
                <a:ea typeface="Helvetica Neue"/>
                <a:cs typeface="Helvetica Neue"/>
              </a:defRPr>
            </a:pPr>
            <a:r>
              <a:rPr sz="2400" b="0">
                <a:solidFill>
                  <a:srgbClr val="B2C0B4"/>
                </a:solidFill>
                <a:latin typeface="Helvetica Neue"/>
                <a:ea typeface="Helvetica Neue"/>
                <a:cs typeface="Helvetica Neue"/>
              </a:rPr>
              <a:t>Everyone follows the project</a:t>
            </a:r>
          </a:p>
          <a:p xmlns:a="http://schemas.openxmlformats.org/drawingml/2006/main">
            <a:pPr algn="l">
              <a:defRPr sz="2400" b="0">
                <a:solidFill>
                  <a:srgbClr val="B2C0B4"/>
                </a:solidFill>
                <a:latin typeface="Helvetica Neue"/>
                <a:ea typeface="Helvetica Neue"/>
                <a:cs typeface="Helvetica Neue"/>
              </a:defRPr>
            </a:pPr>
            <a:r>
              <a:rPr sz="2400" b="0">
                <a:solidFill>
                  <a:srgbClr val="B2C0B4"/>
                </a:solidFill>
                <a:latin typeface="Helvetica Neue"/>
                <a:ea typeface="Helvetica Neue"/>
                <a:cs typeface="Helvetica Neue"/>
              </a:rPr>
              <a:t>through live sessions.</a:t>
            </a:r>
          </a:p>
        </p:txBody>
      </p:sp>
      <p:sp>
        <p:nvSpPr>
          <p:cNvPr id="4" name="01">
            <a:extLst xmlns:a="http://schemas.openxmlformats.org/drawingml/2006/main">
              <a:ext uri="{FF2B5EF4-FFF2-40B4-BE49-F238E27FC236}">
                <a16:creationId xmlns:a16="http://schemas.microsoft.com/office/drawing/2014/main" id="{B0BE04E3-D044-4ADF-8097-F1A76C2ADA4B}"/>
              </a:ext>
            </a:extLst>
          </p:cNvPr>
          <p:cNvSpPr>
            <a:spLocks xmlns:a="http://schemas.openxmlformats.org/drawingml/2006/main" noGrp="1"/>
          </p:cNvSpPr>
          <p:nvPr/>
        </p:nvSpPr>
        <p:spPr>
          <a:xfrm xmlns:a="http://schemas.openxmlformats.org/drawingml/2006/main">
            <a:off x="5934075" y="1704975"/>
            <a:ext cx="62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3B6F4"/>
                </a:solidFill>
                <a:latin typeface="Helvetica Neue"/>
                <a:ea typeface="Helvetica Neue"/>
                <a:cs typeface="Helvetica Neue"/>
              </a:defRPr>
            </a:pPr>
            <a:r>
              <a:rPr sz="2025" b="0">
                <a:solidFill>
                  <a:srgbClr val="C3B6F4"/>
                </a:solidFill>
                <a:latin typeface="Helvetica Neue"/>
                <a:ea typeface="Helvetica Neue"/>
                <a:cs typeface="Helvetica Neue"/>
              </a:rPr>
              <a:t>01</a:t>
            </a:r>
          </a:p>
        </p:txBody>
      </p:sp>
      <p:sp>
        <p:nvSpPr>
          <p:cNvPr id="5" name="Create or join">
            <a:extLst xmlns:a="http://schemas.openxmlformats.org/drawingml/2006/main">
              <a:ext uri="{FF2B5EF4-FFF2-40B4-BE49-F238E27FC236}">
                <a16:creationId xmlns:a16="http://schemas.microsoft.com/office/drawing/2014/main" id="{04B761C3-A55D-474E-AAD9-908FADBC0B3D}"/>
              </a:ext>
            </a:extLst>
          </p:cNvPr>
          <p:cNvSpPr>
            <a:spLocks xmlns:a="http://schemas.openxmlformats.org/drawingml/2006/main" noGrp="1"/>
          </p:cNvSpPr>
          <p:nvPr/>
        </p:nvSpPr>
        <p:spPr>
          <a:xfrm xmlns:a="http://schemas.openxmlformats.org/drawingml/2006/main">
            <a:off x="6677025" y="1676400"/>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F1F3EC"/>
                </a:solidFill>
                <a:latin typeface="Helvetica Neue"/>
                <a:ea typeface="Helvetica Neue"/>
                <a:cs typeface="Helvetica Neue"/>
              </a:defRPr>
            </a:pPr>
            <a:r>
              <a:rPr sz="2550" b="1">
                <a:solidFill>
                  <a:srgbClr val="F1F3EC"/>
                </a:solidFill>
                <a:latin typeface="Helvetica Neue"/>
                <a:ea typeface="Helvetica Neue"/>
                <a:cs typeface="Helvetica Neue"/>
              </a:rPr>
              <a:t>Create or join</a:t>
            </a:r>
          </a:p>
        </p:txBody>
      </p:sp>
      <p:sp>
        <p:nvSpPr>
          <p:cNvPr id="6" name="Open the room in a browser.">
            <a:extLst xmlns:a="http://schemas.openxmlformats.org/drawingml/2006/main">
              <a:ext uri="{FF2B5EF4-FFF2-40B4-BE49-F238E27FC236}">
                <a16:creationId xmlns:a16="http://schemas.microsoft.com/office/drawing/2014/main" id="{08AE3781-9DE2-4610-AC3F-B2D0EEE878BD}"/>
              </a:ext>
            </a:extLst>
          </p:cNvPr>
          <p:cNvSpPr>
            <a:spLocks xmlns:a="http://schemas.openxmlformats.org/drawingml/2006/main" noGrp="1"/>
          </p:cNvSpPr>
          <p:nvPr/>
        </p:nvSpPr>
        <p:spPr>
          <a:xfrm xmlns:a="http://schemas.openxmlformats.org/drawingml/2006/main">
            <a:off x="6677025" y="2114550"/>
            <a:ext cx="4857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2C0B4"/>
                </a:solidFill>
                <a:latin typeface="Helvetica Neue"/>
                <a:ea typeface="Helvetica Neue"/>
                <a:cs typeface="Helvetica Neue"/>
              </a:defRPr>
            </a:pPr>
            <a:r>
              <a:rPr sz="1875" b="0">
                <a:solidFill>
                  <a:srgbClr val="B2C0B4"/>
                </a:solidFill>
                <a:latin typeface="Helvetica Neue"/>
                <a:ea typeface="Helvetica Neue"/>
                <a:cs typeface="Helvetica Neue"/>
              </a:rPr>
              <a:t>Open the room in a browser.</a:t>
            </a:r>
          </a:p>
        </p:txBody>
      </p:sp>
      <p:sp>
        <p:nvSpPr>
          <p:cNvPr id="7" name="02">
            <a:extLst xmlns:a="http://schemas.openxmlformats.org/drawingml/2006/main">
              <a:ext uri="{FF2B5EF4-FFF2-40B4-BE49-F238E27FC236}">
                <a16:creationId xmlns:a16="http://schemas.microsoft.com/office/drawing/2014/main" id="{CDF96F31-3AB9-42BC-B42A-258DE8858A9F}"/>
              </a:ext>
            </a:extLst>
          </p:cNvPr>
          <p:cNvSpPr>
            <a:spLocks xmlns:a="http://schemas.openxmlformats.org/drawingml/2006/main" noGrp="1"/>
          </p:cNvSpPr>
          <p:nvPr/>
        </p:nvSpPr>
        <p:spPr>
          <a:xfrm xmlns:a="http://schemas.openxmlformats.org/drawingml/2006/main">
            <a:off x="5934075" y="2762250"/>
            <a:ext cx="62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3B6F4"/>
                </a:solidFill>
                <a:latin typeface="Helvetica Neue"/>
                <a:ea typeface="Helvetica Neue"/>
                <a:cs typeface="Helvetica Neue"/>
              </a:defRPr>
            </a:pPr>
            <a:r>
              <a:rPr sz="2025" b="0">
                <a:solidFill>
                  <a:srgbClr val="C3B6F4"/>
                </a:solidFill>
                <a:latin typeface="Helvetica Neue"/>
                <a:ea typeface="Helvetica Neue"/>
                <a:cs typeface="Helvetica Neue"/>
              </a:rPr>
              <a:t>02</a:t>
            </a:r>
          </a:p>
        </p:txBody>
      </p:sp>
      <p:sp>
        <p:nvSpPr>
          <p:cNvPr id="8" name="Watch agents work">
            <a:extLst xmlns:a="http://schemas.openxmlformats.org/drawingml/2006/main">
              <a:ext uri="{FF2B5EF4-FFF2-40B4-BE49-F238E27FC236}">
                <a16:creationId xmlns:a16="http://schemas.microsoft.com/office/drawing/2014/main" id="{10F30432-0540-40F7-A1F0-802D957EC868}"/>
              </a:ext>
            </a:extLst>
          </p:cNvPr>
          <p:cNvSpPr>
            <a:spLocks xmlns:a="http://schemas.openxmlformats.org/drawingml/2006/main" noGrp="1"/>
          </p:cNvSpPr>
          <p:nvPr/>
        </p:nvSpPr>
        <p:spPr>
          <a:xfrm xmlns:a="http://schemas.openxmlformats.org/drawingml/2006/main">
            <a:off x="6677025" y="273367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F1F3EC"/>
                </a:solidFill>
                <a:latin typeface="Helvetica Neue"/>
                <a:ea typeface="Helvetica Neue"/>
                <a:cs typeface="Helvetica Neue"/>
              </a:defRPr>
            </a:pPr>
            <a:r>
              <a:rPr sz="2550" b="1">
                <a:solidFill>
                  <a:srgbClr val="F1F3EC"/>
                </a:solidFill>
                <a:latin typeface="Helvetica Neue"/>
                <a:ea typeface="Helvetica Neue"/>
                <a:cs typeface="Helvetica Neue"/>
              </a:rPr>
              <a:t>Watch agents work</a:t>
            </a:r>
          </a:p>
        </p:txBody>
      </p:sp>
      <p:sp>
        <p:nvSpPr>
          <p:cNvPr id="9" name="Follow public messages and changes.">
            <a:extLst xmlns:a="http://schemas.openxmlformats.org/drawingml/2006/main">
              <a:ext uri="{FF2B5EF4-FFF2-40B4-BE49-F238E27FC236}">
                <a16:creationId xmlns:a16="http://schemas.microsoft.com/office/drawing/2014/main" id="{ECEF78A4-2753-4DB3-8669-62AEA948AC0C}"/>
              </a:ext>
            </a:extLst>
          </p:cNvPr>
          <p:cNvSpPr>
            <a:spLocks xmlns:a="http://schemas.openxmlformats.org/drawingml/2006/main" noGrp="1"/>
          </p:cNvSpPr>
          <p:nvPr/>
        </p:nvSpPr>
        <p:spPr>
          <a:xfrm xmlns:a="http://schemas.openxmlformats.org/drawingml/2006/main">
            <a:off x="6677025" y="3171825"/>
            <a:ext cx="4857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2C0B4"/>
                </a:solidFill>
                <a:latin typeface="Helvetica Neue"/>
                <a:ea typeface="Helvetica Neue"/>
                <a:cs typeface="Helvetica Neue"/>
              </a:defRPr>
            </a:pPr>
            <a:r>
              <a:rPr sz="1875" b="0">
                <a:solidFill>
                  <a:srgbClr val="B2C0B4"/>
                </a:solidFill>
                <a:latin typeface="Helvetica Neue"/>
                <a:ea typeface="Helvetica Neue"/>
                <a:cs typeface="Helvetica Neue"/>
              </a:rPr>
              <a:t>Follow public messages and changes.</a:t>
            </a:r>
          </a:p>
        </p:txBody>
      </p:sp>
      <p:sp>
        <p:nvSpPr>
          <p:cNvPr id="10" name="03">
            <a:extLst xmlns:a="http://schemas.openxmlformats.org/drawingml/2006/main">
              <a:ext uri="{FF2B5EF4-FFF2-40B4-BE49-F238E27FC236}">
                <a16:creationId xmlns:a16="http://schemas.microsoft.com/office/drawing/2014/main" id="{B24295FB-B6ED-49C0-B0C3-CCCC1D8F2659}"/>
              </a:ext>
            </a:extLst>
          </p:cNvPr>
          <p:cNvSpPr>
            <a:spLocks xmlns:a="http://schemas.openxmlformats.org/drawingml/2006/main" noGrp="1"/>
          </p:cNvSpPr>
          <p:nvPr/>
        </p:nvSpPr>
        <p:spPr>
          <a:xfrm xmlns:a="http://schemas.openxmlformats.org/drawingml/2006/main">
            <a:off x="5934075" y="3819525"/>
            <a:ext cx="62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3B6F4"/>
                </a:solidFill>
                <a:latin typeface="Helvetica Neue"/>
                <a:ea typeface="Helvetica Neue"/>
                <a:cs typeface="Helvetica Neue"/>
              </a:defRPr>
            </a:pPr>
            <a:r>
              <a:rPr sz="2025" b="0">
                <a:solidFill>
                  <a:srgbClr val="C3B6F4"/>
                </a:solidFill>
                <a:latin typeface="Helvetica Neue"/>
                <a:ea typeface="Helvetica Neue"/>
                <a:cs typeface="Helvetica Neue"/>
              </a:rPr>
              <a:t>03</a:t>
            </a:r>
          </a:p>
        </p:txBody>
      </p:sp>
      <p:sp>
        <p:nvSpPr>
          <p:cNvPr id="11" name="Discuss a decision">
            <a:extLst xmlns:a="http://schemas.openxmlformats.org/drawingml/2006/main">
              <a:ext uri="{FF2B5EF4-FFF2-40B4-BE49-F238E27FC236}">
                <a16:creationId xmlns:a16="http://schemas.microsoft.com/office/drawing/2014/main" id="{F3EE1B5A-8704-4280-8975-9631A4FD63BE}"/>
              </a:ext>
            </a:extLst>
          </p:cNvPr>
          <p:cNvSpPr>
            <a:spLocks xmlns:a="http://schemas.openxmlformats.org/drawingml/2006/main" noGrp="1"/>
          </p:cNvSpPr>
          <p:nvPr/>
        </p:nvSpPr>
        <p:spPr>
          <a:xfrm xmlns:a="http://schemas.openxmlformats.org/drawingml/2006/main">
            <a:off x="6677025" y="3790950"/>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F1F3EC"/>
                </a:solidFill>
                <a:latin typeface="Helvetica Neue"/>
                <a:ea typeface="Helvetica Neue"/>
                <a:cs typeface="Helvetica Neue"/>
              </a:defRPr>
            </a:pPr>
            <a:r>
              <a:rPr sz="2550" b="1">
                <a:solidFill>
                  <a:srgbClr val="F1F3EC"/>
                </a:solidFill>
                <a:latin typeface="Helvetica Neue"/>
                <a:ea typeface="Helvetica Neue"/>
                <a:cs typeface="Helvetica Neue"/>
              </a:rPr>
              <a:t>Discuss a decision</a:t>
            </a:r>
          </a:p>
        </p:txBody>
      </p:sp>
      <p:sp>
        <p:nvSpPr>
          <p:cNvPr id="12" name="Each vote gets its own team chat.">
            <a:extLst xmlns:a="http://schemas.openxmlformats.org/drawingml/2006/main">
              <a:ext uri="{FF2B5EF4-FFF2-40B4-BE49-F238E27FC236}">
                <a16:creationId xmlns:a16="http://schemas.microsoft.com/office/drawing/2014/main" id="{63ED0DF3-C05E-44B3-9C28-35405DFE2073}"/>
              </a:ext>
            </a:extLst>
          </p:cNvPr>
          <p:cNvSpPr>
            <a:spLocks xmlns:a="http://schemas.openxmlformats.org/drawingml/2006/main" noGrp="1"/>
          </p:cNvSpPr>
          <p:nvPr/>
        </p:nvSpPr>
        <p:spPr>
          <a:xfrm xmlns:a="http://schemas.openxmlformats.org/drawingml/2006/main">
            <a:off x="6677025" y="4229100"/>
            <a:ext cx="4857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2C0B4"/>
                </a:solidFill>
                <a:latin typeface="Helvetica Neue"/>
                <a:ea typeface="Helvetica Neue"/>
                <a:cs typeface="Helvetica Neue"/>
              </a:defRPr>
            </a:pPr>
            <a:r>
              <a:rPr sz="1875" b="0">
                <a:solidFill>
                  <a:srgbClr val="B2C0B4"/>
                </a:solidFill>
                <a:latin typeface="Helvetica Neue"/>
                <a:ea typeface="Helvetica Neue"/>
                <a:cs typeface="Helvetica Neue"/>
              </a:rPr>
              <a:t>Each vote gets its own team chat.</a:t>
            </a:r>
          </a:p>
        </p:txBody>
      </p:sp>
      <p:sp>
        <p:nvSpPr>
          <p:cNvPr id="13" name="04">
            <a:extLst xmlns:a="http://schemas.openxmlformats.org/drawingml/2006/main">
              <a:ext uri="{FF2B5EF4-FFF2-40B4-BE49-F238E27FC236}">
                <a16:creationId xmlns:a16="http://schemas.microsoft.com/office/drawing/2014/main" id="{FC277F19-97FB-46FF-82C7-1DF7C8D76554}"/>
              </a:ext>
            </a:extLst>
          </p:cNvPr>
          <p:cNvSpPr>
            <a:spLocks xmlns:a="http://schemas.openxmlformats.org/drawingml/2006/main" noGrp="1"/>
          </p:cNvSpPr>
          <p:nvPr/>
        </p:nvSpPr>
        <p:spPr>
          <a:xfrm xmlns:a="http://schemas.openxmlformats.org/drawingml/2006/main">
            <a:off x="5934075" y="4876800"/>
            <a:ext cx="628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3B6F4"/>
                </a:solidFill>
                <a:latin typeface="Helvetica Neue"/>
                <a:ea typeface="Helvetica Neue"/>
                <a:cs typeface="Helvetica Neue"/>
              </a:defRPr>
            </a:pPr>
            <a:r>
              <a:rPr sz="2025" b="0">
                <a:solidFill>
                  <a:srgbClr val="C3B6F4"/>
                </a:solidFill>
                <a:latin typeface="Helvetica Neue"/>
                <a:ea typeface="Helvetica Neue"/>
                <a:cs typeface="Helvetica Neue"/>
              </a:rPr>
              <a:t>04</a:t>
            </a:r>
          </a:p>
        </p:txBody>
      </p:sp>
      <p:sp>
        <p:nvSpPr>
          <p:cNvPr id="14" name="Keep control of the pace">
            <a:extLst xmlns:a="http://schemas.openxmlformats.org/drawingml/2006/main">
              <a:ext uri="{FF2B5EF4-FFF2-40B4-BE49-F238E27FC236}">
                <a16:creationId xmlns:a16="http://schemas.microsoft.com/office/drawing/2014/main" id="{4BB466F4-56EA-4374-8231-420C3A212CAD}"/>
              </a:ext>
            </a:extLst>
          </p:cNvPr>
          <p:cNvSpPr>
            <a:spLocks xmlns:a="http://schemas.openxmlformats.org/drawingml/2006/main" noGrp="1"/>
          </p:cNvSpPr>
          <p:nvPr/>
        </p:nvSpPr>
        <p:spPr>
          <a:xfrm xmlns:a="http://schemas.openxmlformats.org/drawingml/2006/main">
            <a:off x="6677025" y="484822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F1F3EC"/>
                </a:solidFill>
                <a:latin typeface="Helvetica Neue"/>
                <a:ea typeface="Helvetica Neue"/>
                <a:cs typeface="Helvetica Neue"/>
              </a:defRPr>
            </a:pPr>
            <a:r>
              <a:rPr sz="2550" b="1">
                <a:solidFill>
                  <a:srgbClr val="F1F3EC"/>
                </a:solidFill>
                <a:latin typeface="Helvetica Neue"/>
                <a:ea typeface="Helvetica Neue"/>
                <a:cs typeface="Helvetica Neue"/>
              </a:rPr>
              <a:t>Keep control of the pace</a:t>
            </a:r>
          </a:p>
        </p:txBody>
      </p:sp>
      <p:sp>
        <p:nvSpPr>
          <p:cNvPr id="15" name="The owner approves before resuming.">
            <a:extLst xmlns:a="http://schemas.openxmlformats.org/drawingml/2006/main">
              <a:ext uri="{FF2B5EF4-FFF2-40B4-BE49-F238E27FC236}">
                <a16:creationId xmlns:a16="http://schemas.microsoft.com/office/drawing/2014/main" id="{007EFA6A-7B74-4313-B5EC-0BAB022A86CF}"/>
              </a:ext>
            </a:extLst>
          </p:cNvPr>
          <p:cNvSpPr>
            <a:spLocks xmlns:a="http://schemas.openxmlformats.org/drawingml/2006/main" noGrp="1"/>
          </p:cNvSpPr>
          <p:nvPr/>
        </p:nvSpPr>
        <p:spPr>
          <a:xfrm xmlns:a="http://schemas.openxmlformats.org/drawingml/2006/main">
            <a:off x="6677025" y="5286375"/>
            <a:ext cx="4857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2C0B4"/>
                </a:solidFill>
                <a:latin typeface="Helvetica Neue"/>
                <a:ea typeface="Helvetica Neue"/>
                <a:cs typeface="Helvetica Neue"/>
              </a:defRPr>
            </a:pPr>
            <a:r>
              <a:rPr sz="1875" b="0">
                <a:solidFill>
                  <a:srgbClr val="B2C0B4"/>
                </a:solidFill>
                <a:latin typeface="Helvetica Neue"/>
                <a:ea typeface="Helvetica Neue"/>
                <a:cs typeface="Helvetica Neue"/>
              </a:rPr>
              <a:t>The owner approves before resuming.</a:t>
            </a:r>
          </a:p>
        </p:txBody>
      </p:sp>
      <p:sp>
        <p:nvSpPr>
          <p:cNvPr id="16" name="The sidebar collapses when the sessions ">
            <a:extLst xmlns:a="http://schemas.openxmlformats.org/drawingml/2006/main">
              <a:ext uri="{FF2B5EF4-FFF2-40B4-BE49-F238E27FC236}">
                <a16:creationId xmlns:a16="http://schemas.microsoft.com/office/drawing/2014/main" id="{F8CF5E5A-5BE5-47AD-BE74-3A7D547E99DF}"/>
              </a:ext>
            </a:extLst>
          </p:cNvPr>
          <p:cNvSpPr>
            <a:spLocks xmlns:a="http://schemas.openxmlformats.org/drawingml/2006/main" noGrp="1"/>
          </p:cNvSpPr>
          <p:nvPr/>
        </p:nvSpPr>
        <p:spPr>
          <a:xfrm xmlns:a="http://schemas.openxmlformats.org/drawingml/2006/main">
            <a:off x="609600" y="60579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2C0B4"/>
                </a:solidFill>
                <a:latin typeface="Helvetica Neue"/>
                <a:ea typeface="Helvetica Neue"/>
                <a:cs typeface="Helvetica Neue"/>
              </a:defRPr>
            </a:pPr>
            <a:r>
              <a:rPr sz="1875" b="0">
                <a:solidFill>
                  <a:srgbClr val="B2C0B4"/>
                </a:solidFill>
                <a:latin typeface="Helvetica Neue"/>
                <a:ea typeface="Helvetica Neue"/>
                <a:cs typeface="Helvetica Neue"/>
              </a:rPr>
              <a:t>The sidebar collapses when the sessions need more space.</a:t>
            </a:r>
          </a:p>
        </p:txBody>
      </p:sp>
    </p:spTree>
    <p:extLst>
      <p:ext uri="{BB962C8B-B14F-4D97-AF65-F5344CB8AC3E}">
        <p14:creationId xmlns:p14="http://schemas.microsoft.com/office/powerpoint/2010/main" val="117975549"/>
      </p:ext>
    </p:extLst>
  </p:cSld>
</p:sld>
</file>

<file path=ppt/slides/slide3.xml><?xml version="1.0" encoding="utf-8"?>
<p:sld xmlns:p="http://schemas.openxmlformats.org/presentationml/2006/main">
  <p:cSld>
    <p:bg>
      <p:bgPr>
        <a:solidFill xmlns:a="http://schemas.openxmlformats.org/drawingml/2006/main">
          <a:srgbClr val="131D18"/>
        </a:solidFill>
      </p:bgPr>
    </p:bg>
    <p:spTree>
      <p:nvGrpSpPr>
        <p:cNvPr id="1" name=""/>
        <p:cNvGrpSpPr/>
        <p:nvPr/>
      </p:nvGrpSpPr>
      <p:grpSpPr>
        <a:xfrm xmlns:a="http://schemas.openxmlformats.org/drawingml/2006/main"/>
      </p:grpSpPr>
      <p:sp>
        <p:nvSpPr>
          <p:cNvPr id="18" name="Local harnesses, shared coordination">
            <a:extLst xmlns:a="http://schemas.openxmlformats.org/drawingml/2006/main">
              <a:ext uri="{FF2B5EF4-FFF2-40B4-BE49-F238E27FC236}">
                <a16:creationId xmlns:a16="http://schemas.microsoft.com/office/drawing/2014/main" id="{CFFACE11-0D01-4A48-82B3-073883530E9C}"/>
              </a:ext>
            </a:extLst>
          </p:cNvPr>
          <p:cNvSpPr>
            <a:spLocks xmlns:a="http://schemas.openxmlformats.org/drawingml/2006/main" noGrp="1"/>
          </p:cNvSpPr>
          <p:nvPr/>
        </p:nvSpPr>
        <p:spPr>
          <a:xfrm xmlns:a="http://schemas.openxmlformats.org/drawingml/2006/main">
            <a:off x="609600" y="4953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F1F3EC"/>
                </a:solidFill>
                <a:latin typeface="Helvetica Neue"/>
                <a:ea typeface="Helvetica Neue"/>
                <a:cs typeface="Helvetica Neue"/>
              </a:defRPr>
            </a:pPr>
            <a:r>
              <a:rPr sz="3900" b="1">
                <a:solidFill>
                  <a:srgbClr val="F1F3EC"/>
                </a:solidFill>
                <a:latin typeface="Helvetica Neue"/>
                <a:ea typeface="Helvetica Neue"/>
                <a:cs typeface="Helvetica Neue"/>
              </a:rPr>
              <a:t>Local harnesses, shared coordination</a:t>
            </a:r>
          </a:p>
        </p:txBody>
      </p:sp>
      <p:sp>
        <p:nvSpPr>
          <p:cNvPr id="2" name="Each runner connects a local coding agen">
            <a:extLst xmlns:a="http://schemas.openxmlformats.org/drawingml/2006/main">
              <a:ext uri="{FF2B5EF4-FFF2-40B4-BE49-F238E27FC236}">
                <a16:creationId xmlns:a16="http://schemas.microsoft.com/office/drawing/2014/main" id="{B33DFB3F-0DF9-4E98-8EB0-6311ED05E4D9}"/>
              </a:ext>
            </a:extLst>
          </p:cNvPr>
          <p:cNvSpPr>
            <a:spLocks xmlns:a="http://schemas.openxmlformats.org/drawingml/2006/main" noGrp="1"/>
          </p:cNvSpPr>
          <p:nvPr/>
        </p:nvSpPr>
        <p:spPr>
          <a:xfrm xmlns:a="http://schemas.openxmlformats.org/drawingml/2006/main">
            <a:off x="609600" y="133350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B2C0B4"/>
                </a:solidFill>
                <a:latin typeface="Helvetica Neue"/>
                <a:ea typeface="Helvetica Neue"/>
                <a:cs typeface="Helvetica Neue"/>
              </a:defRPr>
            </a:pPr>
            <a:r>
              <a:rPr sz="2250" b="0">
                <a:solidFill>
                  <a:srgbClr val="B2C0B4"/>
                </a:solidFill>
                <a:latin typeface="Helvetica Neue"/>
                <a:ea typeface="Helvetica Neue"/>
                <a:cs typeface="Helvetica Neue"/>
              </a:rPr>
              <a:t>Each runner connects a local coding agent to the same room.</a:t>
            </a:r>
          </a:p>
        </p:txBody>
      </p:sp>
      <p:sp>
        <p:nvSpPr>
          <p:cNvPr id="3" name="Teammate A local machine">
            <a:extLst xmlns:a="http://schemas.openxmlformats.org/drawingml/2006/main">
              <a:ext uri="{FF2B5EF4-FFF2-40B4-BE49-F238E27FC236}">
                <a16:creationId xmlns:a16="http://schemas.microsoft.com/office/drawing/2014/main" id="{CFE1F5E5-8330-4951-B154-9A4FC737554E}"/>
              </a:ext>
            </a:extLst>
          </p:cNvPr>
          <p:cNvSpPr>
            <a:spLocks xmlns:a="http://schemas.openxmlformats.org/drawingml/2006/main" noGrp="1"/>
          </p:cNvSpPr>
          <p:nvPr/>
        </p:nvSpPr>
        <p:spPr>
          <a:xfrm xmlns:a="http://schemas.openxmlformats.org/drawingml/2006/main">
            <a:off x="609600" y="2238375"/>
            <a:ext cx="2905125" cy="2428875"/>
          </a:xfrm>
          <a:prstGeom xmlns:a="http://schemas.openxmlformats.org/drawingml/2006/main" prst="rect">
            <a:avLst/>
          </a:prstGeom>
          <a:solidFill xmlns:a="http://schemas.openxmlformats.org/drawingml/2006/main">
            <a:srgbClr val="1F3025"/>
          </a:solidFill>
          <a:ln xmlns:a="http://schemas.openxmlformats.org/drawingml/2006/main" w="19050">
            <a:solidFill>
              <a:srgbClr val="C5F17A"/>
            </a:solidFill>
          </a:ln>
        </p:spPr>
      </p:sp>
      <p:sp>
        <p:nvSpPr>
          <p:cNvPr id="4" name="Central coordination server">
            <a:extLst xmlns:a="http://schemas.openxmlformats.org/drawingml/2006/main">
              <a:ext uri="{FF2B5EF4-FFF2-40B4-BE49-F238E27FC236}">
                <a16:creationId xmlns:a16="http://schemas.microsoft.com/office/drawing/2014/main" id="{FDE8D803-C3FD-4C5B-8B5C-2CD63EAC58F5}"/>
              </a:ext>
            </a:extLst>
          </p:cNvPr>
          <p:cNvSpPr>
            <a:spLocks xmlns:a="http://schemas.openxmlformats.org/drawingml/2006/main" noGrp="1"/>
          </p:cNvSpPr>
          <p:nvPr/>
        </p:nvSpPr>
        <p:spPr>
          <a:xfrm xmlns:a="http://schemas.openxmlformats.org/drawingml/2006/main">
            <a:off x="4324350" y="2238375"/>
            <a:ext cx="3543300" cy="2428875"/>
          </a:xfrm>
          <a:prstGeom xmlns:a="http://schemas.openxmlformats.org/drawingml/2006/main" prst="rect">
            <a:avLst/>
          </a:prstGeom>
          <a:solidFill xmlns:a="http://schemas.openxmlformats.org/drawingml/2006/main">
            <a:srgbClr val="1F3025"/>
          </a:solidFill>
          <a:ln xmlns:a="http://schemas.openxmlformats.org/drawingml/2006/main" w="19050">
            <a:solidFill>
              <a:srgbClr val="C3B6F4"/>
            </a:solidFill>
          </a:ln>
        </p:spPr>
      </p:sp>
      <p:sp>
        <p:nvSpPr>
          <p:cNvPr id="5" name="Teammate B local machine">
            <a:extLst xmlns:a="http://schemas.openxmlformats.org/drawingml/2006/main">
              <a:ext uri="{FF2B5EF4-FFF2-40B4-BE49-F238E27FC236}">
                <a16:creationId xmlns:a16="http://schemas.microsoft.com/office/drawing/2014/main" id="{4FD25318-C3E4-46A1-9B02-5761967B7E0B}"/>
              </a:ext>
            </a:extLst>
          </p:cNvPr>
          <p:cNvSpPr>
            <a:spLocks xmlns:a="http://schemas.openxmlformats.org/drawingml/2006/main" noGrp="1"/>
          </p:cNvSpPr>
          <p:nvPr/>
        </p:nvSpPr>
        <p:spPr>
          <a:xfrm xmlns:a="http://schemas.openxmlformats.org/drawingml/2006/main">
            <a:off x="8677275" y="2238375"/>
            <a:ext cx="2905125" cy="2428875"/>
          </a:xfrm>
          <a:prstGeom xmlns:a="http://schemas.openxmlformats.org/drawingml/2006/main" prst="rect">
            <a:avLst/>
          </a:prstGeom>
          <a:solidFill xmlns:a="http://schemas.openxmlformats.org/drawingml/2006/main">
            <a:srgbClr val="1F3025"/>
          </a:solidFill>
          <a:ln xmlns:a="http://schemas.openxmlformats.org/drawingml/2006/main" w="19050">
            <a:solidFill>
              <a:srgbClr val="EEB89C"/>
            </a:solidFill>
          </a:ln>
        </p:spPr>
      </p:sp>
      <p:sp>
        <p:nvSpPr>
          <p:cNvPr id="6" name="Teammate A">
            <a:extLst xmlns:a="http://schemas.openxmlformats.org/drawingml/2006/main">
              <a:ext uri="{FF2B5EF4-FFF2-40B4-BE49-F238E27FC236}">
                <a16:creationId xmlns:a16="http://schemas.microsoft.com/office/drawing/2014/main" id="{AFE5FAFE-4B59-4061-ADD5-D1367F40292B}"/>
              </a:ext>
            </a:extLst>
          </p:cNvPr>
          <p:cNvSpPr>
            <a:spLocks xmlns:a="http://schemas.openxmlformats.org/drawingml/2006/main" noGrp="1"/>
          </p:cNvSpPr>
          <p:nvPr/>
        </p:nvSpPr>
        <p:spPr>
          <a:xfrm xmlns:a="http://schemas.openxmlformats.org/drawingml/2006/main">
            <a:off x="838200" y="2476500"/>
            <a:ext cx="243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5F17A"/>
                </a:solidFill>
                <a:latin typeface="Helvetica Neue"/>
                <a:ea typeface="Helvetica Neue"/>
                <a:cs typeface="Helvetica Neue"/>
              </a:defRPr>
            </a:pPr>
            <a:r>
              <a:rPr sz="2325" b="1">
                <a:solidFill>
                  <a:srgbClr val="C5F17A"/>
                </a:solidFill>
                <a:latin typeface="Helvetica Neue"/>
                <a:ea typeface="Helvetica Neue"/>
                <a:cs typeface="Helvetica Neue"/>
              </a:rPr>
              <a:t>Teammate A</a:t>
            </a:r>
          </a:p>
        </p:txBody>
      </p:sp>
      <p:sp>
        <p:nvSpPr>
          <p:cNvPr id="7" name="Codex">
            <a:extLst xmlns:a="http://schemas.openxmlformats.org/drawingml/2006/main">
              <a:ext uri="{FF2B5EF4-FFF2-40B4-BE49-F238E27FC236}">
                <a16:creationId xmlns:a16="http://schemas.microsoft.com/office/drawing/2014/main" id="{55CA0F47-C232-4986-8E57-32024CFBFBE0}"/>
              </a:ext>
            </a:extLst>
          </p:cNvPr>
          <p:cNvSpPr>
            <a:spLocks xmlns:a="http://schemas.openxmlformats.org/drawingml/2006/main" noGrp="1"/>
          </p:cNvSpPr>
          <p:nvPr/>
        </p:nvSpPr>
        <p:spPr>
          <a:xfrm xmlns:a="http://schemas.openxmlformats.org/drawingml/2006/main">
            <a:off x="838200" y="2962275"/>
            <a:ext cx="2438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F1F3EC"/>
                </a:solidFill>
                <a:latin typeface="Helvetica Neue"/>
                <a:ea typeface="Helvetica Neue"/>
                <a:cs typeface="Helvetica Neue"/>
              </a:defRPr>
            </a:pPr>
            <a:r>
              <a:rPr sz="3150" b="1">
                <a:solidFill>
                  <a:srgbClr val="F1F3EC"/>
                </a:solidFill>
                <a:latin typeface="Helvetica Neue"/>
                <a:ea typeface="Helvetica Neue"/>
                <a:cs typeface="Helvetica Neue"/>
              </a:rPr>
              <a:t>Codex</a:t>
            </a:r>
          </a:p>
        </p:txBody>
      </p:sp>
      <p:sp>
        <p:nvSpPr>
          <p:cNvPr id="8" name="Local runner&#10;Own Git worktree&#10;Local Code">
            <a:extLst xmlns:a="http://schemas.openxmlformats.org/drawingml/2006/main">
              <a:ext uri="{FF2B5EF4-FFF2-40B4-BE49-F238E27FC236}">
                <a16:creationId xmlns:a16="http://schemas.microsoft.com/office/drawing/2014/main" id="{8FA517DD-EAA0-4476-84F4-FFD1BA58A7D4}"/>
              </a:ext>
            </a:extLst>
          </p:cNvPr>
          <p:cNvSpPr>
            <a:spLocks xmlns:a="http://schemas.openxmlformats.org/drawingml/2006/main" noGrp="1"/>
          </p:cNvSpPr>
          <p:nvPr/>
        </p:nvSpPr>
        <p:spPr>
          <a:xfrm xmlns:a="http://schemas.openxmlformats.org/drawingml/2006/main">
            <a:off x="838200" y="3619500"/>
            <a:ext cx="2514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2C0B4"/>
                </a:solidFill>
                <a:latin typeface="Helvetica Neue"/>
                <a:ea typeface="Helvetica Neue"/>
                <a:cs typeface="Helvetica Neue"/>
              </a:defRPr>
            </a:pPr>
            <a:r>
              <a:rPr sz="1875" b="0">
                <a:solidFill>
                  <a:srgbClr val="B2C0B4"/>
                </a:solidFill>
                <a:latin typeface="Helvetica Neue"/>
                <a:ea typeface="Helvetica Neue"/>
                <a:cs typeface="Helvetica Neue"/>
              </a:rPr>
              <a:t>Local runner</a:t>
            </a:r>
          </a:p>
          <a:p xmlns:a="http://schemas.openxmlformats.org/drawingml/2006/main">
            <a:pPr algn="l">
              <a:defRPr sz="1875" b="0">
                <a:solidFill>
                  <a:srgbClr val="B2C0B4"/>
                </a:solidFill>
                <a:latin typeface="Helvetica Neue"/>
                <a:ea typeface="Helvetica Neue"/>
                <a:cs typeface="Helvetica Neue"/>
              </a:defRPr>
            </a:pPr>
            <a:r>
              <a:rPr sz="1875" b="0">
                <a:solidFill>
                  <a:srgbClr val="B2C0B4"/>
                </a:solidFill>
                <a:latin typeface="Helvetica Neue"/>
                <a:ea typeface="Helvetica Neue"/>
                <a:cs typeface="Helvetica Neue"/>
              </a:rPr>
              <a:t>Own Git worktree</a:t>
            </a:r>
          </a:p>
          <a:p xmlns:a="http://schemas.openxmlformats.org/drawingml/2006/main">
            <a:pPr algn="l">
              <a:defRPr sz="1875" b="0">
                <a:solidFill>
                  <a:srgbClr val="B2C0B4"/>
                </a:solidFill>
                <a:latin typeface="Helvetica Neue"/>
                <a:ea typeface="Helvetica Neue"/>
                <a:cs typeface="Helvetica Neue"/>
              </a:defRPr>
            </a:pPr>
            <a:r>
              <a:rPr sz="1875" b="0">
                <a:solidFill>
                  <a:srgbClr val="B2C0B4"/>
                </a:solidFill>
                <a:latin typeface="Helvetica Neue"/>
                <a:ea typeface="Helvetica Neue"/>
                <a:cs typeface="Helvetica Neue"/>
              </a:rPr>
              <a:t>Local Codex login</a:t>
            </a:r>
          </a:p>
        </p:txBody>
      </p:sp>
      <p:sp>
        <p:nvSpPr>
          <p:cNvPr id="9" name="Central server">
            <a:extLst xmlns:a="http://schemas.openxmlformats.org/drawingml/2006/main">
              <a:ext uri="{FF2B5EF4-FFF2-40B4-BE49-F238E27FC236}">
                <a16:creationId xmlns:a16="http://schemas.microsoft.com/office/drawing/2014/main" id="{DA62DA67-C2D4-433B-9C08-95A19C04E690}"/>
              </a:ext>
            </a:extLst>
          </p:cNvPr>
          <p:cNvSpPr>
            <a:spLocks xmlns:a="http://schemas.openxmlformats.org/drawingml/2006/main" noGrp="1"/>
          </p:cNvSpPr>
          <p:nvPr/>
        </p:nvSpPr>
        <p:spPr>
          <a:xfrm xmlns:a="http://schemas.openxmlformats.org/drawingml/2006/main">
            <a:off x="4572000" y="2476500"/>
            <a:ext cx="3105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3B6F4"/>
                </a:solidFill>
                <a:latin typeface="Helvetica Neue"/>
                <a:ea typeface="Helvetica Neue"/>
                <a:cs typeface="Helvetica Neue"/>
              </a:defRPr>
            </a:pPr>
            <a:r>
              <a:rPr sz="2325" b="1">
                <a:solidFill>
                  <a:srgbClr val="C3B6F4"/>
                </a:solidFill>
                <a:latin typeface="Helvetica Neue"/>
                <a:ea typeface="Helvetica Neue"/>
                <a:cs typeface="Helvetica Neue"/>
              </a:rPr>
              <a:t>Central server</a:t>
            </a:r>
          </a:p>
        </p:txBody>
      </p:sp>
      <p:sp>
        <p:nvSpPr>
          <p:cNvPr id="10" name="Shared room state&#10;Public session events&#10;">
            <a:extLst xmlns:a="http://schemas.openxmlformats.org/drawingml/2006/main">
              <a:ext uri="{FF2B5EF4-FFF2-40B4-BE49-F238E27FC236}">
                <a16:creationId xmlns:a16="http://schemas.microsoft.com/office/drawing/2014/main" id="{D471E295-E81B-40B5-9F8B-2E21F6757A20}"/>
              </a:ext>
            </a:extLst>
          </p:cNvPr>
          <p:cNvSpPr>
            <a:spLocks xmlns:a="http://schemas.openxmlformats.org/drawingml/2006/main" noGrp="1"/>
          </p:cNvSpPr>
          <p:nvPr/>
        </p:nvSpPr>
        <p:spPr>
          <a:xfrm xmlns:a="http://schemas.openxmlformats.org/drawingml/2006/main">
            <a:off x="4572000" y="3076575"/>
            <a:ext cx="309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1F3EC"/>
                </a:solidFill>
                <a:latin typeface="Helvetica Neue"/>
                <a:ea typeface="Helvetica Neue"/>
                <a:cs typeface="Helvetica Neue"/>
              </a:defRPr>
            </a:pPr>
            <a:r>
              <a:rPr sz="2025" b="0">
                <a:solidFill>
                  <a:srgbClr val="F1F3EC"/>
                </a:solidFill>
                <a:latin typeface="Helvetica Neue"/>
                <a:ea typeface="Helvetica Neue"/>
                <a:cs typeface="Helvetica Neue"/>
              </a:rPr>
              <a:t>Shared room state</a:t>
            </a:r>
          </a:p>
          <a:p xmlns:a="http://schemas.openxmlformats.org/drawingml/2006/main">
            <a:pPr algn="l">
              <a:defRPr sz="2025" b="0">
                <a:solidFill>
                  <a:srgbClr val="F1F3EC"/>
                </a:solidFill>
                <a:latin typeface="Helvetica Neue"/>
                <a:ea typeface="Helvetica Neue"/>
                <a:cs typeface="Helvetica Neue"/>
              </a:defRPr>
            </a:pPr>
            <a:r>
              <a:rPr sz="2025" b="0">
                <a:solidFill>
                  <a:srgbClr val="F1F3EC"/>
                </a:solidFill>
                <a:latin typeface="Helvetica Neue"/>
                <a:ea typeface="Helvetica Neue"/>
                <a:cs typeface="Helvetica Neue"/>
              </a:rPr>
              <a:t>Public session events</a:t>
            </a:r>
          </a:p>
          <a:p xmlns:a="http://schemas.openxmlformats.org/drawingml/2006/main">
            <a:pPr algn="l">
              <a:defRPr sz="2025" b="0">
                <a:solidFill>
                  <a:srgbClr val="F1F3EC"/>
                </a:solidFill>
                <a:latin typeface="Helvetica Neue"/>
                <a:ea typeface="Helvetica Neue"/>
                <a:cs typeface="Helvetica Neue"/>
              </a:defRPr>
            </a:pPr>
            <a:r>
              <a:rPr sz="2025" b="0">
                <a:solidFill>
                  <a:srgbClr val="F1F3EC"/>
                </a:solidFill>
                <a:latin typeface="Helvetica Neue"/>
                <a:ea typeface="Helvetica Neue"/>
                <a:cs typeface="Helvetica Neue"/>
              </a:rPr>
              <a:t>Votes + discussion</a:t>
            </a:r>
          </a:p>
          <a:p xmlns:a="http://schemas.openxmlformats.org/drawingml/2006/main">
            <a:pPr algn="l">
              <a:defRPr sz="2025" b="0">
                <a:solidFill>
                  <a:srgbClr val="F1F3EC"/>
                </a:solidFill>
                <a:latin typeface="Helvetica Neue"/>
                <a:ea typeface="Helvetica Neue"/>
                <a:cs typeface="Helvetica Neue"/>
              </a:defRPr>
            </a:pPr>
            <a:r>
              <a:rPr sz="2025" b="0">
                <a:solidFill>
                  <a:srgbClr val="F1F3EC"/>
                </a:solidFill>
                <a:latin typeface="Helvetica Neue"/>
                <a:ea typeface="Helvetica Neue"/>
                <a:cs typeface="Helvetica Neue"/>
              </a:rPr>
              <a:t>Overlap warnings</a:t>
            </a:r>
          </a:p>
        </p:txBody>
      </p:sp>
      <p:sp>
        <p:nvSpPr>
          <p:cNvPr id="11" name="Teammate B">
            <a:extLst xmlns:a="http://schemas.openxmlformats.org/drawingml/2006/main">
              <a:ext uri="{FF2B5EF4-FFF2-40B4-BE49-F238E27FC236}">
                <a16:creationId xmlns:a16="http://schemas.microsoft.com/office/drawing/2014/main" id="{37FA8194-CE4E-45A1-A422-C9D683C36567}"/>
              </a:ext>
            </a:extLst>
          </p:cNvPr>
          <p:cNvSpPr>
            <a:spLocks xmlns:a="http://schemas.openxmlformats.org/drawingml/2006/main" noGrp="1"/>
          </p:cNvSpPr>
          <p:nvPr/>
        </p:nvSpPr>
        <p:spPr>
          <a:xfrm xmlns:a="http://schemas.openxmlformats.org/drawingml/2006/main">
            <a:off x="8905875" y="2476500"/>
            <a:ext cx="243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EEB89C"/>
                </a:solidFill>
                <a:latin typeface="Helvetica Neue"/>
                <a:ea typeface="Helvetica Neue"/>
                <a:cs typeface="Helvetica Neue"/>
              </a:defRPr>
            </a:pPr>
            <a:r>
              <a:rPr sz="2325" b="1">
                <a:solidFill>
                  <a:srgbClr val="EEB89C"/>
                </a:solidFill>
                <a:latin typeface="Helvetica Neue"/>
                <a:ea typeface="Helvetica Neue"/>
                <a:cs typeface="Helvetica Neue"/>
              </a:rPr>
              <a:t>Teammate B</a:t>
            </a:r>
          </a:p>
        </p:txBody>
      </p:sp>
      <p:sp>
        <p:nvSpPr>
          <p:cNvPr id="12" name="Claude Code">
            <a:extLst xmlns:a="http://schemas.openxmlformats.org/drawingml/2006/main">
              <a:ext uri="{FF2B5EF4-FFF2-40B4-BE49-F238E27FC236}">
                <a16:creationId xmlns:a16="http://schemas.microsoft.com/office/drawing/2014/main" id="{5C0FF1A2-984A-4072-8CA7-402425A2AF53}"/>
              </a:ext>
            </a:extLst>
          </p:cNvPr>
          <p:cNvSpPr>
            <a:spLocks xmlns:a="http://schemas.openxmlformats.org/drawingml/2006/main" noGrp="1"/>
          </p:cNvSpPr>
          <p:nvPr/>
        </p:nvSpPr>
        <p:spPr>
          <a:xfrm xmlns:a="http://schemas.openxmlformats.org/drawingml/2006/main">
            <a:off x="8905875" y="2962275"/>
            <a:ext cx="2476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F1F3EC"/>
                </a:solidFill>
                <a:latin typeface="Helvetica Neue"/>
                <a:ea typeface="Helvetica Neue"/>
                <a:cs typeface="Helvetica Neue"/>
              </a:defRPr>
            </a:pPr>
            <a:r>
              <a:rPr sz="2775" b="1">
                <a:solidFill>
                  <a:srgbClr val="F1F3EC"/>
                </a:solidFill>
                <a:latin typeface="Helvetica Neue"/>
                <a:ea typeface="Helvetica Neue"/>
                <a:cs typeface="Helvetica Neue"/>
              </a:rPr>
              <a:t>Claude Code</a:t>
            </a:r>
          </a:p>
        </p:txBody>
      </p:sp>
      <p:sp>
        <p:nvSpPr>
          <p:cNvPr id="13" name="Local runner&#10;Own Git worktree&#10;Local cred">
            <a:extLst xmlns:a="http://schemas.openxmlformats.org/drawingml/2006/main">
              <a:ext uri="{FF2B5EF4-FFF2-40B4-BE49-F238E27FC236}">
                <a16:creationId xmlns:a16="http://schemas.microsoft.com/office/drawing/2014/main" id="{493F2F93-68F6-476E-B2BE-A82FDCA27BE4}"/>
              </a:ext>
            </a:extLst>
          </p:cNvPr>
          <p:cNvSpPr>
            <a:spLocks xmlns:a="http://schemas.openxmlformats.org/drawingml/2006/main" noGrp="1"/>
          </p:cNvSpPr>
          <p:nvPr/>
        </p:nvSpPr>
        <p:spPr>
          <a:xfrm xmlns:a="http://schemas.openxmlformats.org/drawingml/2006/main">
            <a:off x="8905875" y="3619500"/>
            <a:ext cx="2514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2C0B4"/>
                </a:solidFill>
                <a:latin typeface="Helvetica Neue"/>
                <a:ea typeface="Helvetica Neue"/>
                <a:cs typeface="Helvetica Neue"/>
              </a:defRPr>
            </a:pPr>
            <a:r>
              <a:rPr sz="1875" b="0">
                <a:solidFill>
                  <a:srgbClr val="B2C0B4"/>
                </a:solidFill>
                <a:latin typeface="Helvetica Neue"/>
                <a:ea typeface="Helvetica Neue"/>
                <a:cs typeface="Helvetica Neue"/>
              </a:rPr>
              <a:t>Local runner</a:t>
            </a:r>
          </a:p>
          <a:p xmlns:a="http://schemas.openxmlformats.org/drawingml/2006/main">
            <a:pPr algn="l">
              <a:defRPr sz="1875" b="0">
                <a:solidFill>
                  <a:srgbClr val="B2C0B4"/>
                </a:solidFill>
                <a:latin typeface="Helvetica Neue"/>
                <a:ea typeface="Helvetica Neue"/>
                <a:cs typeface="Helvetica Neue"/>
              </a:defRPr>
            </a:pPr>
            <a:r>
              <a:rPr sz="1875" b="0">
                <a:solidFill>
                  <a:srgbClr val="B2C0B4"/>
                </a:solidFill>
                <a:latin typeface="Helvetica Neue"/>
                <a:ea typeface="Helvetica Neue"/>
                <a:cs typeface="Helvetica Neue"/>
              </a:rPr>
              <a:t>Own Git worktree</a:t>
            </a:r>
          </a:p>
          <a:p xmlns:a="http://schemas.openxmlformats.org/drawingml/2006/main">
            <a:pPr algn="l">
              <a:defRPr sz="1875" b="0">
                <a:solidFill>
                  <a:srgbClr val="B2C0B4"/>
                </a:solidFill>
                <a:latin typeface="Helvetica Neue"/>
                <a:ea typeface="Helvetica Neue"/>
                <a:cs typeface="Helvetica Neue"/>
              </a:defRPr>
            </a:pPr>
            <a:r>
              <a:rPr sz="1875" b="0">
                <a:solidFill>
                  <a:srgbClr val="B2C0B4"/>
                </a:solidFill>
                <a:latin typeface="Helvetica Neue"/>
                <a:ea typeface="Helvetica Neue"/>
                <a:cs typeface="Helvetica Neue"/>
              </a:rPr>
              <a:t>Local credentials</a:t>
            </a:r>
          </a:p>
        </p:txBody>
      </p:sp>
      <p:cxnSp>
        <p:nvCxnSpPr>
          <p:cNvPr id="31" name=""/>
          <p:cNvCxnSpPr>
            <a:stCxn xmlns:a="http://schemas.openxmlformats.org/drawingml/2006/main" id="3" idx="3"/>
            <a:endCxn xmlns:a="http://schemas.openxmlformats.org/drawingml/2006/main" id="4" idx="1"/>
          </p:cNvCxnSpPr>
          <p:nvPr/>
        </p:nvCxnSpPr>
        <p:spPr>
          <a:xfrm xmlns:a="http://schemas.openxmlformats.org/drawingml/2006/main">
            <a:off x="3514725" y="3452813"/>
            <a:ext cx="809625" cy="0"/>
          </a:xfrm>
          <a:prstGeom xmlns:a="http://schemas.openxmlformats.org/drawingml/2006/main" prst="straightConnector1">
            <a:avLst/>
          </a:prstGeom>
          <a:ln xmlns:a="http://schemas.openxmlformats.org/drawingml/2006/main" w="19050">
            <a:solidFill>
              <a:srgbClr val="B2C0B4"/>
            </a:solidFill>
            <a:headEnd type="triangle" w="med" len="med"/>
            <a:tailEnd type="triangle" w="med" len="med"/>
          </a:ln>
        </p:spPr>
      </p:cxnSp>
      <p:cxnSp>
        <p:nvCxnSpPr>
          <p:cNvPr id="32" name=""/>
          <p:cNvCxnSpPr>
            <a:stCxn xmlns:a="http://schemas.openxmlformats.org/drawingml/2006/main" id="4" idx="3"/>
            <a:endCxn xmlns:a="http://schemas.openxmlformats.org/drawingml/2006/main" id="5" idx="1"/>
          </p:cNvCxnSpPr>
          <p:nvPr/>
        </p:nvCxnSpPr>
        <p:spPr>
          <a:xfrm xmlns:a="http://schemas.openxmlformats.org/drawingml/2006/main">
            <a:off x="7867650" y="3452813"/>
            <a:ext cx="809625" cy="0"/>
          </a:xfrm>
          <a:prstGeom xmlns:a="http://schemas.openxmlformats.org/drawingml/2006/main" prst="straightConnector1">
            <a:avLst/>
          </a:prstGeom>
          <a:ln xmlns:a="http://schemas.openxmlformats.org/drawingml/2006/main" w="19050">
            <a:solidFill>
              <a:srgbClr val="B2C0B4"/>
            </a:solidFill>
            <a:headEnd type="triangle" w="med" len="med"/>
            <a:tailEnd type="triangle" w="med" len="med"/>
          </a:ln>
        </p:spPr>
      </p:cxnSp>
      <p:sp>
        <p:nvSpPr>
          <p:cNvPr id="16" name="Events travel to the server. Approved de">
            <a:extLst xmlns:a="http://schemas.openxmlformats.org/drawingml/2006/main">
              <a:ext uri="{FF2B5EF4-FFF2-40B4-BE49-F238E27FC236}">
                <a16:creationId xmlns:a16="http://schemas.microsoft.com/office/drawing/2014/main" id="{E1606B3D-2CFD-4ECE-B913-7EF064D69265}"/>
              </a:ext>
            </a:extLst>
          </p:cNvPr>
          <p:cNvSpPr>
            <a:spLocks xmlns:a="http://schemas.openxmlformats.org/drawingml/2006/main" noGrp="1"/>
          </p:cNvSpPr>
          <p:nvPr/>
        </p:nvSpPr>
        <p:spPr>
          <a:xfrm xmlns:a="http://schemas.openxmlformats.org/drawingml/2006/main">
            <a:off x="609600" y="5114925"/>
            <a:ext cx="1095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1F3EC"/>
                </a:solidFill>
                <a:latin typeface="Helvetica Neue"/>
                <a:ea typeface="Helvetica Neue"/>
                <a:cs typeface="Helvetica Neue"/>
              </a:defRPr>
            </a:pPr>
            <a:r>
              <a:rPr sz="2175" b="0">
                <a:solidFill>
                  <a:srgbClr val="F1F3EC"/>
                </a:solidFill>
                <a:latin typeface="Helvetica Neue"/>
                <a:ea typeface="Helvetica Neue"/>
                <a:cs typeface="Helvetica Neue"/>
              </a:rPr>
              <a:t>Events travel to the server. Approved decisions travel to the runners.</a:t>
            </a:r>
          </a:p>
        </p:txBody>
      </p:sp>
      <p:sp>
        <p:nvSpPr>
          <p:cNvPr id="17" name="GitHub or GitLab supplies the shared rep">
            <a:extLst xmlns:a="http://schemas.openxmlformats.org/drawingml/2006/main">
              <a:ext uri="{FF2B5EF4-FFF2-40B4-BE49-F238E27FC236}">
                <a16:creationId xmlns:a16="http://schemas.microsoft.com/office/drawing/2014/main" id="{22F4CDFA-F4BB-4D93-B1D2-DF4606DF4C26}"/>
              </a:ext>
            </a:extLst>
          </p:cNvPr>
          <p:cNvSpPr>
            <a:spLocks xmlns:a="http://schemas.openxmlformats.org/drawingml/2006/main" noGrp="1"/>
          </p:cNvSpPr>
          <p:nvPr/>
        </p:nvSpPr>
        <p:spPr>
          <a:xfrm xmlns:a="http://schemas.openxmlformats.org/drawingml/2006/main">
            <a:off x="609600" y="5838825"/>
            <a:ext cx="10953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B2C0B4"/>
                </a:solidFill>
                <a:latin typeface="Helvetica Neue"/>
                <a:ea typeface="Helvetica Neue"/>
                <a:cs typeface="Helvetica Neue"/>
              </a:defRPr>
            </a:pPr>
            <a:r>
              <a:rPr sz="1800" b="0">
                <a:solidFill>
                  <a:srgbClr val="B2C0B4"/>
                </a:solidFill>
                <a:latin typeface="Helvetica Neue"/>
                <a:ea typeface="Helvetica Neue"/>
                <a:cs typeface="Helvetica Neue"/>
              </a:rPr>
              <a:t>GitHub or GitLab supplies the shared repository and starting commit.</a:t>
            </a:r>
          </a:p>
          <a:p xmlns:a="http://schemas.openxmlformats.org/drawingml/2006/main">
            <a:pPr algn="l">
              <a:defRPr sz="1800" b="0">
                <a:solidFill>
                  <a:srgbClr val="B2C0B4"/>
                </a:solidFill>
                <a:latin typeface="Helvetica Neue"/>
                <a:ea typeface="Helvetica Neue"/>
                <a:cs typeface="Helvetica Neue"/>
              </a:defRPr>
            </a:pPr>
            <a:r>
              <a:rPr sz="1800" b="0">
                <a:solidFill>
                  <a:srgbClr val="B2C0B4"/>
                </a:solidFill>
                <a:latin typeface="Helvetica Neue"/>
                <a:ea typeface="Helvetica Neue"/>
                <a:cs typeface="Helvetica Neue"/>
              </a:rPr>
              <a:t>Execution and harness credentials stay on each teammate’s machine.</a:t>
            </a:r>
          </a:p>
        </p:txBody>
      </p:sp>
    </p:spTree>
    <p:extLst>
      <p:ext uri="{BB962C8B-B14F-4D97-AF65-F5344CB8AC3E}">
        <p14:creationId xmlns:p14="http://schemas.microsoft.com/office/powerpoint/2010/main" val="2020570357"/>
      </p:ext>
    </p:extLst>
  </p:cSld>
</p:sld>
</file>

<file path=ppt/slides/slide4.xml><?xml version="1.0" encoding="utf-8"?>
<p:sld xmlns:p="http://schemas.openxmlformats.org/presentationml/2006/main">
  <p:cSld>
    <p:bg>
      <p:bgPr>
        <a:solidFill xmlns:a="http://schemas.openxmlformats.org/drawingml/2006/main">
          <a:srgbClr val="131D18"/>
        </a:solidFill>
      </p:bgPr>
    </p:bg>
    <p:spTree>
      <p:nvGrpSpPr>
        <p:cNvPr id="1" name=""/>
        <p:cNvGrpSpPr/>
        <p:nvPr/>
      </p:nvGrpSpPr>
      <p:grpSpPr>
        <a:xfrm xmlns:a="http://schemas.openxmlformats.org/drawingml/2006/main"/>
      </p:grpSpPr>
      <p:sp>
        <p:nvSpPr>
          <p:cNvPr id="17" name="A vote ends with owner approval">
            <a:extLst xmlns:a="http://schemas.openxmlformats.org/drawingml/2006/main">
              <a:ext uri="{FF2B5EF4-FFF2-40B4-BE49-F238E27FC236}">
                <a16:creationId xmlns:a16="http://schemas.microsoft.com/office/drawing/2014/main" id="{783B5366-50EA-4DE6-AEA6-2393614E7674}"/>
              </a:ext>
            </a:extLst>
          </p:cNvPr>
          <p:cNvSpPr>
            <a:spLocks xmlns:a="http://schemas.openxmlformats.org/drawingml/2006/main" noGrp="1"/>
          </p:cNvSpPr>
          <p:nvPr/>
        </p:nvSpPr>
        <p:spPr>
          <a:xfrm xmlns:a="http://schemas.openxmlformats.org/drawingml/2006/main">
            <a:off x="609600" y="4953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F1F3EC"/>
                </a:solidFill>
                <a:latin typeface="Helvetica Neue"/>
                <a:ea typeface="Helvetica Neue"/>
                <a:cs typeface="Helvetica Neue"/>
              </a:defRPr>
            </a:pPr>
            <a:r>
              <a:rPr sz="3900" b="1">
                <a:solidFill>
                  <a:srgbClr val="F1F3EC"/>
                </a:solidFill>
                <a:latin typeface="Helvetica Neue"/>
                <a:ea typeface="Helvetica Neue"/>
                <a:cs typeface="Helvetica Neue"/>
              </a:rPr>
              <a:t>A vote ends with owner approval</a:t>
            </a:r>
          </a:p>
        </p:txBody>
      </p:sp>
      <p:sp>
        <p:nvSpPr>
          <p:cNvPr id="2" name="60 seconds">
            <a:extLst xmlns:a="http://schemas.openxmlformats.org/drawingml/2006/main">
              <a:ext uri="{FF2B5EF4-FFF2-40B4-BE49-F238E27FC236}">
                <a16:creationId xmlns:a16="http://schemas.microsoft.com/office/drawing/2014/main" id="{39BDC83D-EB96-443F-A316-1FC95CBCF1EF}"/>
              </a:ext>
            </a:extLst>
          </p:cNvPr>
          <p:cNvSpPr>
            <a:spLocks xmlns:a="http://schemas.openxmlformats.org/drawingml/2006/main" noGrp="1"/>
          </p:cNvSpPr>
          <p:nvPr/>
        </p:nvSpPr>
        <p:spPr>
          <a:xfrm xmlns:a="http://schemas.openxmlformats.org/drawingml/2006/main">
            <a:off x="609600" y="1504950"/>
            <a:ext cx="714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C5F17A"/>
                </a:solidFill>
                <a:latin typeface="Helvetica Neue"/>
                <a:ea typeface="Helvetica Neue"/>
                <a:cs typeface="Helvetica Neue"/>
              </a:defRPr>
            </a:pPr>
            <a:r>
              <a:rPr sz="6600" b="1">
                <a:solidFill>
                  <a:srgbClr val="C5F17A"/>
                </a:solidFill>
                <a:latin typeface="Helvetica Neue"/>
                <a:ea typeface="Helvetica Neue"/>
                <a:cs typeface="Helvetica Neue"/>
              </a:rPr>
              <a:t>60 seconds</a:t>
            </a:r>
          </a:p>
        </p:txBody>
      </p:sp>
      <p:sp>
        <p:nvSpPr>
          <p:cNvPr id="3" name="for the team to discuss and vote">
            <a:extLst xmlns:a="http://schemas.openxmlformats.org/drawingml/2006/main">
              <a:ext uri="{FF2B5EF4-FFF2-40B4-BE49-F238E27FC236}">
                <a16:creationId xmlns:a16="http://schemas.microsoft.com/office/drawing/2014/main" id="{2561EB0B-BE71-4E6E-8B3E-FA0593E086DC}"/>
              </a:ext>
            </a:extLst>
          </p:cNvPr>
          <p:cNvSpPr>
            <a:spLocks xmlns:a="http://schemas.openxmlformats.org/drawingml/2006/main" noGrp="1"/>
          </p:cNvSpPr>
          <p:nvPr/>
        </p:nvSpPr>
        <p:spPr>
          <a:xfrm xmlns:a="http://schemas.openxmlformats.org/drawingml/2006/main">
            <a:off x="638175" y="2552700"/>
            <a:ext cx="942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B2C0B4"/>
                </a:solidFill>
                <a:latin typeface="Helvetica Neue"/>
                <a:ea typeface="Helvetica Neue"/>
                <a:cs typeface="Helvetica Neue"/>
              </a:defRPr>
            </a:pPr>
            <a:r>
              <a:rPr sz="2550" b="0">
                <a:solidFill>
                  <a:srgbClr val="B2C0B4"/>
                </a:solidFill>
                <a:latin typeface="Helvetica Neue"/>
                <a:ea typeface="Helvetica Neue"/>
                <a:cs typeface="Helvetica Neue"/>
              </a:rPr>
              <a:t>for the team to discuss and vote</a:t>
            </a:r>
          </a:p>
        </p:txBody>
      </p:sp>
      <p:sp>
        <p:nvSpPr>
          <p:cNvPr id="4" name="Discuss and vote">
            <a:extLst xmlns:a="http://schemas.openxmlformats.org/drawingml/2006/main">
              <a:ext uri="{FF2B5EF4-FFF2-40B4-BE49-F238E27FC236}">
                <a16:creationId xmlns:a16="http://schemas.microsoft.com/office/drawing/2014/main" id="{8CA76583-6EE6-4F8F-9E68-14317D2F9867}"/>
              </a:ext>
            </a:extLst>
          </p:cNvPr>
          <p:cNvSpPr>
            <a:spLocks xmlns:a="http://schemas.openxmlformats.org/drawingml/2006/main" noGrp="1"/>
          </p:cNvSpPr>
          <p:nvPr/>
        </p:nvSpPr>
        <p:spPr>
          <a:xfrm xmlns:a="http://schemas.openxmlformats.org/drawingml/2006/main">
            <a:off x="609600" y="3495675"/>
            <a:ext cx="2952750" cy="1381125"/>
          </a:xfrm>
          <a:prstGeom xmlns:a="http://schemas.openxmlformats.org/drawingml/2006/main" prst="rect">
            <a:avLst/>
          </a:prstGeom>
          <a:solidFill xmlns:a="http://schemas.openxmlformats.org/drawingml/2006/main">
            <a:srgbClr val="1F3025"/>
          </a:solidFill>
          <a:ln xmlns:a="http://schemas.openxmlformats.org/drawingml/2006/main" w="19050">
            <a:solidFill>
              <a:srgbClr val="C5F17A"/>
            </a:solidFill>
          </a:ln>
        </p:spPr>
      </p:sp>
      <p:sp>
        <p:nvSpPr>
          <p:cNvPr id="5" name="Owner approval">
            <a:extLst xmlns:a="http://schemas.openxmlformats.org/drawingml/2006/main">
              <a:ext uri="{FF2B5EF4-FFF2-40B4-BE49-F238E27FC236}">
                <a16:creationId xmlns:a16="http://schemas.microsoft.com/office/drawing/2014/main" id="{1DEA3FE1-D309-4754-9051-11170BB9BE53}"/>
              </a:ext>
            </a:extLst>
          </p:cNvPr>
          <p:cNvSpPr>
            <a:spLocks xmlns:a="http://schemas.openxmlformats.org/drawingml/2006/main" noGrp="1"/>
          </p:cNvSpPr>
          <p:nvPr/>
        </p:nvSpPr>
        <p:spPr>
          <a:xfrm xmlns:a="http://schemas.openxmlformats.org/drawingml/2006/main">
            <a:off x="4638675" y="3495675"/>
            <a:ext cx="2952750" cy="1381125"/>
          </a:xfrm>
          <a:prstGeom xmlns:a="http://schemas.openxmlformats.org/drawingml/2006/main" prst="rect">
            <a:avLst/>
          </a:prstGeom>
          <a:solidFill xmlns:a="http://schemas.openxmlformats.org/drawingml/2006/main">
            <a:srgbClr val="1F3025"/>
          </a:solidFill>
          <a:ln xmlns:a="http://schemas.openxmlformats.org/drawingml/2006/main" w="19050">
            <a:solidFill>
              <a:srgbClr val="C3B6F4"/>
            </a:solidFill>
          </a:ln>
        </p:spPr>
      </p:sp>
      <p:sp>
        <p:nvSpPr>
          <p:cNvPr id="6" name="Resume agent">
            <a:extLst xmlns:a="http://schemas.openxmlformats.org/drawingml/2006/main">
              <a:ext uri="{FF2B5EF4-FFF2-40B4-BE49-F238E27FC236}">
                <a16:creationId xmlns:a16="http://schemas.microsoft.com/office/drawing/2014/main" id="{CB57D80E-DFEE-4479-B814-947ECA06C9A1}"/>
              </a:ext>
            </a:extLst>
          </p:cNvPr>
          <p:cNvSpPr>
            <a:spLocks xmlns:a="http://schemas.openxmlformats.org/drawingml/2006/main" noGrp="1"/>
          </p:cNvSpPr>
          <p:nvPr/>
        </p:nvSpPr>
        <p:spPr>
          <a:xfrm xmlns:a="http://schemas.openxmlformats.org/drawingml/2006/main">
            <a:off x="8667750" y="3495675"/>
            <a:ext cx="2914650" cy="1381125"/>
          </a:xfrm>
          <a:prstGeom xmlns:a="http://schemas.openxmlformats.org/drawingml/2006/main" prst="rect">
            <a:avLst/>
          </a:prstGeom>
          <a:solidFill xmlns:a="http://schemas.openxmlformats.org/drawingml/2006/main">
            <a:srgbClr val="1F3025"/>
          </a:solidFill>
          <a:ln xmlns:a="http://schemas.openxmlformats.org/drawingml/2006/main" w="19050">
            <a:solidFill>
              <a:srgbClr val="EEB89C"/>
            </a:solidFill>
          </a:ln>
        </p:spPr>
      </p:sp>
      <p:sp>
        <p:nvSpPr>
          <p:cNvPr id="7" name="Discuss + vote">
            <a:extLst xmlns:a="http://schemas.openxmlformats.org/drawingml/2006/main">
              <a:ext uri="{FF2B5EF4-FFF2-40B4-BE49-F238E27FC236}">
                <a16:creationId xmlns:a16="http://schemas.microsoft.com/office/drawing/2014/main" id="{6D626518-5F30-4080-87EE-49D098C256A4}"/>
              </a:ext>
            </a:extLst>
          </p:cNvPr>
          <p:cNvSpPr>
            <a:spLocks xmlns:a="http://schemas.openxmlformats.org/drawingml/2006/main" noGrp="1"/>
          </p:cNvSpPr>
          <p:nvPr/>
        </p:nvSpPr>
        <p:spPr>
          <a:xfrm xmlns:a="http://schemas.openxmlformats.org/drawingml/2006/main">
            <a:off x="838200" y="3733800"/>
            <a:ext cx="25431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C5F17A"/>
                </a:solidFill>
                <a:latin typeface="Helvetica Neue"/>
                <a:ea typeface="Helvetica Neue"/>
                <a:cs typeface="Helvetica Neue"/>
              </a:defRPr>
            </a:pPr>
            <a:r>
              <a:rPr sz="2400" b="1">
                <a:solidFill>
                  <a:srgbClr val="C5F17A"/>
                </a:solidFill>
                <a:latin typeface="Helvetica Neue"/>
                <a:ea typeface="Helvetica Neue"/>
                <a:cs typeface="Helvetica Neue"/>
              </a:rPr>
              <a:t>Discuss + vote</a:t>
            </a:r>
          </a:p>
        </p:txBody>
      </p:sp>
      <p:sp>
        <p:nvSpPr>
          <p:cNvPr id="8" name="One changeable ballot">
            <a:extLst xmlns:a="http://schemas.openxmlformats.org/drawingml/2006/main">
              <a:ext uri="{FF2B5EF4-FFF2-40B4-BE49-F238E27FC236}">
                <a16:creationId xmlns:a16="http://schemas.microsoft.com/office/drawing/2014/main" id="{ECCD1066-B3F7-4C06-91B4-EE6B18305FF9}"/>
              </a:ext>
            </a:extLst>
          </p:cNvPr>
          <p:cNvSpPr>
            <a:spLocks xmlns:a="http://schemas.openxmlformats.org/drawingml/2006/main" noGrp="1"/>
          </p:cNvSpPr>
          <p:nvPr/>
        </p:nvSpPr>
        <p:spPr>
          <a:xfrm xmlns:a="http://schemas.openxmlformats.org/drawingml/2006/main">
            <a:off x="838200" y="432435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B2C0B4"/>
                </a:solidFill>
                <a:latin typeface="Helvetica Neue"/>
                <a:ea typeface="Helvetica Neue"/>
                <a:cs typeface="Helvetica Neue"/>
              </a:defRPr>
            </a:pPr>
            <a:r>
              <a:rPr sz="1800" b="0">
                <a:solidFill>
                  <a:srgbClr val="B2C0B4"/>
                </a:solidFill>
                <a:latin typeface="Helvetica Neue"/>
                <a:ea typeface="Helvetica Neue"/>
                <a:cs typeface="Helvetica Neue"/>
              </a:rPr>
              <a:t>One changeable ballot</a:t>
            </a:r>
          </a:p>
        </p:txBody>
      </p:sp>
      <p:sp>
        <p:nvSpPr>
          <p:cNvPr id="9" name="Owner approval">
            <a:extLst xmlns:a="http://schemas.openxmlformats.org/drawingml/2006/main">
              <a:ext uri="{FF2B5EF4-FFF2-40B4-BE49-F238E27FC236}">
                <a16:creationId xmlns:a16="http://schemas.microsoft.com/office/drawing/2014/main" id="{5E084D2E-61EA-4EBB-BDAA-A6DD2D5AE3FF}"/>
              </a:ext>
            </a:extLst>
          </p:cNvPr>
          <p:cNvSpPr>
            <a:spLocks xmlns:a="http://schemas.openxmlformats.org/drawingml/2006/main" noGrp="1"/>
          </p:cNvSpPr>
          <p:nvPr/>
        </p:nvSpPr>
        <p:spPr>
          <a:xfrm xmlns:a="http://schemas.openxmlformats.org/drawingml/2006/main">
            <a:off x="4867275" y="3733800"/>
            <a:ext cx="25431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C3B6F4"/>
                </a:solidFill>
                <a:latin typeface="Helvetica Neue"/>
                <a:ea typeface="Helvetica Neue"/>
                <a:cs typeface="Helvetica Neue"/>
              </a:defRPr>
            </a:pPr>
            <a:r>
              <a:rPr sz="2400" b="1">
                <a:solidFill>
                  <a:srgbClr val="C3B6F4"/>
                </a:solidFill>
                <a:latin typeface="Helvetica Neue"/>
                <a:ea typeface="Helvetica Neue"/>
                <a:cs typeface="Helvetica Neue"/>
              </a:rPr>
              <a:t>Owner approval</a:t>
            </a:r>
          </a:p>
        </p:txBody>
      </p:sp>
      <p:sp>
        <p:nvSpPr>
          <p:cNvPr id="10" name="Waits until they approve">
            <a:extLst xmlns:a="http://schemas.openxmlformats.org/drawingml/2006/main">
              <a:ext uri="{FF2B5EF4-FFF2-40B4-BE49-F238E27FC236}">
                <a16:creationId xmlns:a16="http://schemas.microsoft.com/office/drawing/2014/main" id="{978A132F-541A-49E5-A78E-AD0E74AE5BD3}"/>
              </a:ext>
            </a:extLst>
          </p:cNvPr>
          <p:cNvSpPr>
            <a:spLocks xmlns:a="http://schemas.openxmlformats.org/drawingml/2006/main" noGrp="1"/>
          </p:cNvSpPr>
          <p:nvPr/>
        </p:nvSpPr>
        <p:spPr>
          <a:xfrm xmlns:a="http://schemas.openxmlformats.org/drawingml/2006/main">
            <a:off x="4867275" y="432435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B2C0B4"/>
                </a:solidFill>
                <a:latin typeface="Helvetica Neue"/>
                <a:ea typeface="Helvetica Neue"/>
                <a:cs typeface="Helvetica Neue"/>
              </a:defRPr>
            </a:pPr>
            <a:r>
              <a:rPr sz="1800" b="0">
                <a:solidFill>
                  <a:srgbClr val="B2C0B4"/>
                </a:solidFill>
                <a:latin typeface="Helvetica Neue"/>
                <a:ea typeface="Helvetica Neue"/>
                <a:cs typeface="Helvetica Neue"/>
              </a:rPr>
              <a:t>Waits until they approve</a:t>
            </a:r>
          </a:p>
        </p:txBody>
      </p:sp>
      <p:sp>
        <p:nvSpPr>
          <p:cNvPr id="11" name="Resume agent">
            <a:extLst xmlns:a="http://schemas.openxmlformats.org/drawingml/2006/main">
              <a:ext uri="{FF2B5EF4-FFF2-40B4-BE49-F238E27FC236}">
                <a16:creationId xmlns:a16="http://schemas.microsoft.com/office/drawing/2014/main" id="{959B4C2F-091F-4914-BD13-D58E2E48A5A9}"/>
              </a:ext>
            </a:extLst>
          </p:cNvPr>
          <p:cNvSpPr>
            <a:spLocks xmlns:a="http://schemas.openxmlformats.org/drawingml/2006/main" noGrp="1"/>
          </p:cNvSpPr>
          <p:nvPr/>
        </p:nvSpPr>
        <p:spPr>
          <a:xfrm xmlns:a="http://schemas.openxmlformats.org/drawingml/2006/main">
            <a:off x="8896350" y="3733800"/>
            <a:ext cx="25431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EEB89C"/>
                </a:solidFill>
                <a:latin typeface="Helvetica Neue"/>
                <a:ea typeface="Helvetica Neue"/>
                <a:cs typeface="Helvetica Neue"/>
              </a:defRPr>
            </a:pPr>
            <a:r>
              <a:rPr sz="2400" b="1">
                <a:solidFill>
                  <a:srgbClr val="EEB89C"/>
                </a:solidFill>
                <a:latin typeface="Helvetica Neue"/>
                <a:ea typeface="Helvetica Neue"/>
                <a:cs typeface="Helvetica Neue"/>
              </a:rPr>
              <a:t>Resume agent</a:t>
            </a:r>
          </a:p>
        </p:txBody>
      </p:sp>
      <p:sp>
        <p:nvSpPr>
          <p:cNvPr id="12" name="Share the final decision">
            <a:extLst xmlns:a="http://schemas.openxmlformats.org/drawingml/2006/main">
              <a:ext uri="{FF2B5EF4-FFF2-40B4-BE49-F238E27FC236}">
                <a16:creationId xmlns:a16="http://schemas.microsoft.com/office/drawing/2014/main" id="{A1F4CB8C-609E-4473-BE76-404DB3453706}"/>
              </a:ext>
            </a:extLst>
          </p:cNvPr>
          <p:cNvSpPr>
            <a:spLocks xmlns:a="http://schemas.openxmlformats.org/drawingml/2006/main" noGrp="1"/>
          </p:cNvSpPr>
          <p:nvPr/>
        </p:nvSpPr>
        <p:spPr>
          <a:xfrm xmlns:a="http://schemas.openxmlformats.org/drawingml/2006/main">
            <a:off x="8896350" y="432435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B2C0B4"/>
                </a:solidFill>
                <a:latin typeface="Helvetica Neue"/>
                <a:ea typeface="Helvetica Neue"/>
                <a:cs typeface="Helvetica Neue"/>
              </a:defRPr>
            </a:pPr>
            <a:r>
              <a:rPr sz="1800" b="0">
                <a:solidFill>
                  <a:srgbClr val="B2C0B4"/>
                </a:solidFill>
                <a:latin typeface="Helvetica Neue"/>
                <a:ea typeface="Helvetica Neue"/>
                <a:cs typeface="Helvetica Neue"/>
              </a:rPr>
              <a:t>Share the final decision</a:t>
            </a:r>
          </a:p>
        </p:txBody>
      </p:sp>
      <p:cxnSp>
        <p:nvCxnSpPr>
          <p:cNvPr id="29" name=""/>
          <p:cNvCxnSpPr>
            <a:stCxn xmlns:a="http://schemas.openxmlformats.org/drawingml/2006/main" id="4" idx="3"/>
            <a:endCxn xmlns:a="http://schemas.openxmlformats.org/drawingml/2006/main" id="5" idx="1"/>
          </p:cNvCxnSpPr>
          <p:nvPr/>
        </p:nvCxnSpPr>
        <p:spPr>
          <a:xfrm xmlns:a="http://schemas.openxmlformats.org/drawingml/2006/main">
            <a:off x="3562350" y="4186238"/>
            <a:ext cx="1076325" cy="0"/>
          </a:xfrm>
          <a:prstGeom xmlns:a="http://schemas.openxmlformats.org/drawingml/2006/main" prst="straightConnector1">
            <a:avLst/>
          </a:prstGeom>
          <a:ln xmlns:a="http://schemas.openxmlformats.org/drawingml/2006/main" w="19050">
            <a:solidFill>
              <a:srgbClr val="B2C0B4"/>
            </a:solidFill>
            <a:tailEnd type="triangle" w="med" len="med"/>
          </a:ln>
        </p:spPr>
      </p:cxnSp>
      <p:cxnSp>
        <p:nvCxnSpPr>
          <p:cNvPr id="30" name=""/>
          <p:cNvCxnSpPr>
            <a:stCxn xmlns:a="http://schemas.openxmlformats.org/drawingml/2006/main" id="5" idx="3"/>
            <a:endCxn xmlns:a="http://schemas.openxmlformats.org/drawingml/2006/main" id="6" idx="1"/>
          </p:cNvCxnSpPr>
          <p:nvPr/>
        </p:nvCxnSpPr>
        <p:spPr>
          <a:xfrm xmlns:a="http://schemas.openxmlformats.org/drawingml/2006/main">
            <a:off x="7591425" y="4186238"/>
            <a:ext cx="1076325" cy="0"/>
          </a:xfrm>
          <a:prstGeom xmlns:a="http://schemas.openxmlformats.org/drawingml/2006/main" prst="straightConnector1">
            <a:avLst/>
          </a:prstGeom>
          <a:ln xmlns:a="http://schemas.openxmlformats.org/drawingml/2006/main" w="19050">
            <a:solidFill>
              <a:srgbClr val="B2C0B4"/>
            </a:solidFill>
            <a:tailEnd type="triangle" w="med" len="med"/>
          </a:ln>
        </p:spPr>
      </p:cxnSp>
      <p:sp>
        <p:nvSpPr>
          <p:cNvPr id="15" name="A clear majority still waits for approva">
            <a:extLst xmlns:a="http://schemas.openxmlformats.org/drawingml/2006/main">
              <a:ext uri="{FF2B5EF4-FFF2-40B4-BE49-F238E27FC236}">
                <a16:creationId xmlns:a16="http://schemas.microsoft.com/office/drawing/2014/main" id="{84AC45A2-F600-4923-94C1-D174B6C62B9C}"/>
              </a:ext>
            </a:extLst>
          </p:cNvPr>
          <p:cNvSpPr>
            <a:spLocks xmlns:a="http://schemas.openxmlformats.org/drawingml/2006/main" noGrp="1"/>
          </p:cNvSpPr>
          <p:nvPr/>
        </p:nvSpPr>
        <p:spPr>
          <a:xfrm xmlns:a="http://schemas.openxmlformats.org/drawingml/2006/main">
            <a:off x="609600" y="5314950"/>
            <a:ext cx="1095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1F3EC"/>
                </a:solidFill>
                <a:latin typeface="Helvetica Neue"/>
                <a:ea typeface="Helvetica Neue"/>
                <a:cs typeface="Helvetica Neue"/>
              </a:defRPr>
            </a:pPr>
            <a:r>
              <a:rPr sz="2175" b="0">
                <a:solidFill>
                  <a:srgbClr val="F1F3EC"/>
                </a:solidFill>
                <a:latin typeface="Helvetica Neue"/>
                <a:ea typeface="Helvetica Neue"/>
                <a:cs typeface="Helvetica Neue"/>
              </a:rPr>
              <a:t>A clear majority still waits for approval. The discussion stays open.</a:t>
            </a:r>
          </a:p>
        </p:txBody>
      </p:sp>
      <p:sp>
        <p:nvSpPr>
          <p:cNvPr id="16" name="The initiator owns a manual vote. The ag">
            <a:extLst xmlns:a="http://schemas.openxmlformats.org/drawingml/2006/main">
              <a:ext uri="{FF2B5EF4-FFF2-40B4-BE49-F238E27FC236}">
                <a16:creationId xmlns:a16="http://schemas.microsoft.com/office/drawing/2014/main" id="{4C69406F-DBBE-47B9-A780-7FD33BB3C960}"/>
              </a:ext>
            </a:extLst>
          </p:cNvPr>
          <p:cNvSpPr>
            <a:spLocks xmlns:a="http://schemas.openxmlformats.org/drawingml/2006/main" noGrp="1"/>
          </p:cNvSpPr>
          <p:nvPr/>
        </p:nvSpPr>
        <p:spPr>
          <a:xfrm xmlns:a="http://schemas.openxmlformats.org/drawingml/2006/main">
            <a:off x="609600" y="60864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2C0B4"/>
                </a:solidFill>
                <a:latin typeface="Helvetica Neue"/>
                <a:ea typeface="Helvetica Neue"/>
                <a:cs typeface="Helvetica Neue"/>
              </a:defRPr>
            </a:pPr>
            <a:r>
              <a:rPr sz="1875" b="0">
                <a:solidFill>
                  <a:srgbClr val="B2C0B4"/>
                </a:solidFill>
                <a:latin typeface="Helvetica Neue"/>
                <a:ea typeface="Helvetica Neue"/>
                <a:cs typeface="Helvetica Neue"/>
              </a:rPr>
              <a:t>The initiator owns a manual vote. The agent owner owns its questions.</a:t>
            </a:r>
          </a:p>
        </p:txBody>
      </p:sp>
    </p:spTree>
    <p:extLst>
      <p:ext uri="{BB962C8B-B14F-4D97-AF65-F5344CB8AC3E}">
        <p14:creationId xmlns:p14="http://schemas.microsoft.com/office/powerpoint/2010/main" val="1043515778"/>
      </p:ext>
    </p:extLst>
  </p:cSld>
</p:sld>
</file>

<file path=ppt/slides/slide5.xml><?xml version="1.0" encoding="utf-8"?>
<p:sld xmlns:p="http://schemas.openxmlformats.org/presentationml/2006/main">
  <p:cSld>
    <p:bg>
      <p:bgPr>
        <a:solidFill xmlns:a="http://schemas.openxmlformats.org/drawingml/2006/main">
          <a:srgbClr val="131D18"/>
        </a:solidFill>
      </p:bgPr>
    </p:bg>
    <p:spTree>
      <p:nvGrpSpPr>
        <p:cNvPr id="1" name=""/>
        <p:cNvGrpSpPr/>
        <p:nvPr/>
      </p:nvGrpSpPr>
      <p:grpSpPr>
        <a:xfrm xmlns:a="http://schemas.openxmlformats.org/drawingml/2006/main"/>
      </p:grpSpPr>
      <p:sp>
        <p:nvSpPr>
          <p:cNvPr id="16" name="Overlap warnings and Git integration">
            <a:extLst xmlns:a="http://schemas.openxmlformats.org/drawingml/2006/main">
              <a:ext uri="{FF2B5EF4-FFF2-40B4-BE49-F238E27FC236}">
                <a16:creationId xmlns:a16="http://schemas.microsoft.com/office/drawing/2014/main" id="{C84992C8-0150-447C-842C-BCE9949C1A7C}"/>
              </a:ext>
            </a:extLst>
          </p:cNvPr>
          <p:cNvSpPr>
            <a:spLocks xmlns:a="http://schemas.openxmlformats.org/drawingml/2006/main" noGrp="1"/>
          </p:cNvSpPr>
          <p:nvPr/>
        </p:nvSpPr>
        <p:spPr>
          <a:xfrm xmlns:a="http://schemas.openxmlformats.org/drawingml/2006/main">
            <a:off x="609600" y="4953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F1F3EC"/>
                </a:solidFill>
                <a:latin typeface="Helvetica Neue"/>
                <a:ea typeface="Helvetica Neue"/>
                <a:cs typeface="Helvetica Neue"/>
              </a:defRPr>
            </a:pPr>
            <a:r>
              <a:rPr sz="3900" b="1">
                <a:solidFill>
                  <a:srgbClr val="F1F3EC"/>
                </a:solidFill>
                <a:latin typeface="Helvetica Neue"/>
                <a:ea typeface="Helvetica Neue"/>
                <a:cs typeface="Helvetica Neue"/>
              </a:rPr>
              <a:t>Overlap warnings and Git integration</a:t>
            </a:r>
          </a:p>
        </p:txBody>
      </p:sp>
      <p:sp>
        <p:nvSpPr>
          <p:cNvPr id="2" name="Matching file paths raise an early warni">
            <a:extLst xmlns:a="http://schemas.openxmlformats.org/drawingml/2006/main">
              <a:ext uri="{FF2B5EF4-FFF2-40B4-BE49-F238E27FC236}">
                <a16:creationId xmlns:a16="http://schemas.microsoft.com/office/drawing/2014/main" id="{192D43BB-2ADB-4727-A44F-70BF65A43856}"/>
              </a:ext>
            </a:extLst>
          </p:cNvPr>
          <p:cNvSpPr>
            <a:spLocks xmlns:a="http://schemas.openxmlformats.org/drawingml/2006/main" noGrp="1"/>
          </p:cNvSpPr>
          <p:nvPr/>
        </p:nvSpPr>
        <p:spPr>
          <a:xfrm xmlns:a="http://schemas.openxmlformats.org/drawingml/2006/main">
            <a:off x="609600" y="13811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2C0B4"/>
                </a:solidFill>
                <a:latin typeface="Helvetica Neue"/>
                <a:ea typeface="Helvetica Neue"/>
                <a:cs typeface="Helvetica Neue"/>
              </a:defRPr>
            </a:pPr>
            <a:r>
              <a:rPr sz="2325" b="0">
                <a:solidFill>
                  <a:srgbClr val="B2C0B4"/>
                </a:solidFill>
                <a:latin typeface="Helvetica Neue"/>
                <a:ea typeface="Helvetica Neue"/>
                <a:cs typeface="Helvetica Neue"/>
              </a:rPr>
              <a:t>Matching file paths raise an early warning.</a:t>
            </a:r>
          </a:p>
        </p:txBody>
      </p:sp>
      <p:sp>
        <p:nvSpPr>
          <p:cNvPr id="3" name="Codex file change">
            <a:extLst xmlns:a="http://schemas.openxmlformats.org/drawingml/2006/main">
              <a:ext uri="{FF2B5EF4-FFF2-40B4-BE49-F238E27FC236}">
                <a16:creationId xmlns:a16="http://schemas.microsoft.com/office/drawing/2014/main" id="{807F37BB-7237-4631-8944-82B90B8F7A0B}"/>
              </a:ext>
            </a:extLst>
          </p:cNvPr>
          <p:cNvSpPr>
            <a:spLocks xmlns:a="http://schemas.openxmlformats.org/drawingml/2006/main" noGrp="1"/>
          </p:cNvSpPr>
          <p:nvPr/>
        </p:nvSpPr>
        <p:spPr>
          <a:xfrm xmlns:a="http://schemas.openxmlformats.org/drawingml/2006/main">
            <a:off x="609600" y="2352675"/>
            <a:ext cx="4305300" cy="1104900"/>
          </a:xfrm>
          <a:prstGeom xmlns:a="http://schemas.openxmlformats.org/drawingml/2006/main" prst="rect">
            <a:avLst/>
          </a:prstGeom>
          <a:solidFill xmlns:a="http://schemas.openxmlformats.org/drawingml/2006/main">
            <a:srgbClr val="1F3025"/>
          </a:solidFill>
          <a:ln xmlns:a="http://schemas.openxmlformats.org/drawingml/2006/main" w="19050">
            <a:solidFill>
              <a:srgbClr val="C5F17A"/>
            </a:solidFill>
          </a:ln>
        </p:spPr>
      </p:sp>
      <p:sp>
        <p:nvSpPr>
          <p:cNvPr id="4" name="Claude file change">
            <a:extLst xmlns:a="http://schemas.openxmlformats.org/drawingml/2006/main">
              <a:ext uri="{FF2B5EF4-FFF2-40B4-BE49-F238E27FC236}">
                <a16:creationId xmlns:a16="http://schemas.microsoft.com/office/drawing/2014/main" id="{08FD0B71-00B5-4AAB-920E-0085D0735E98}"/>
              </a:ext>
            </a:extLst>
          </p:cNvPr>
          <p:cNvSpPr>
            <a:spLocks xmlns:a="http://schemas.openxmlformats.org/drawingml/2006/main" noGrp="1"/>
          </p:cNvSpPr>
          <p:nvPr/>
        </p:nvSpPr>
        <p:spPr>
          <a:xfrm xmlns:a="http://schemas.openxmlformats.org/drawingml/2006/main">
            <a:off x="609600" y="3895725"/>
            <a:ext cx="4305300" cy="1104900"/>
          </a:xfrm>
          <a:prstGeom xmlns:a="http://schemas.openxmlformats.org/drawingml/2006/main" prst="rect">
            <a:avLst/>
          </a:prstGeom>
          <a:solidFill xmlns:a="http://schemas.openxmlformats.org/drawingml/2006/main">
            <a:srgbClr val="1F3025"/>
          </a:solidFill>
          <a:ln xmlns:a="http://schemas.openxmlformats.org/drawingml/2006/main" w="19050">
            <a:solidFill>
              <a:srgbClr val="EEB89C"/>
            </a:solidFill>
          </a:ln>
        </p:spPr>
      </p:sp>
      <p:sp>
        <p:nvSpPr>
          <p:cNvPr id="5" name="Potential overlap warning">
            <a:extLst xmlns:a="http://schemas.openxmlformats.org/drawingml/2006/main">
              <a:ext uri="{FF2B5EF4-FFF2-40B4-BE49-F238E27FC236}">
                <a16:creationId xmlns:a16="http://schemas.microsoft.com/office/drawing/2014/main" id="{D6647503-840C-4514-8E03-D5C262B287BF}"/>
              </a:ext>
            </a:extLst>
          </p:cNvPr>
          <p:cNvSpPr>
            <a:spLocks xmlns:a="http://schemas.openxmlformats.org/drawingml/2006/main" noGrp="1"/>
          </p:cNvSpPr>
          <p:nvPr/>
        </p:nvSpPr>
        <p:spPr>
          <a:xfrm xmlns:a="http://schemas.openxmlformats.org/drawingml/2006/main">
            <a:off x="7096125" y="2857500"/>
            <a:ext cx="4486275" cy="1619250"/>
          </a:xfrm>
          <a:prstGeom xmlns:a="http://schemas.openxmlformats.org/drawingml/2006/main" prst="rect">
            <a:avLst/>
          </a:prstGeom>
          <a:solidFill xmlns:a="http://schemas.openxmlformats.org/drawingml/2006/main">
            <a:srgbClr val="1F3025"/>
          </a:solidFill>
          <a:ln xmlns:a="http://schemas.openxmlformats.org/drawingml/2006/main" w="19050">
            <a:solidFill>
              <a:srgbClr val="C3B6F4"/>
            </a:solidFill>
          </a:ln>
        </p:spPr>
      </p:sp>
      <p:sp>
        <p:nvSpPr>
          <p:cNvPr id="6" name="Codex changes">
            <a:extLst xmlns:a="http://schemas.openxmlformats.org/drawingml/2006/main">
              <a:ext uri="{FF2B5EF4-FFF2-40B4-BE49-F238E27FC236}">
                <a16:creationId xmlns:a16="http://schemas.microsoft.com/office/drawing/2014/main" id="{A6FC5DC7-8BAF-49AC-B77D-0E5E88369605}"/>
              </a:ext>
            </a:extLst>
          </p:cNvPr>
          <p:cNvSpPr>
            <a:spLocks xmlns:a="http://schemas.openxmlformats.org/drawingml/2006/main" noGrp="1"/>
          </p:cNvSpPr>
          <p:nvPr/>
        </p:nvSpPr>
        <p:spPr>
          <a:xfrm xmlns:a="http://schemas.openxmlformats.org/drawingml/2006/main">
            <a:off x="838200" y="2514600"/>
            <a:ext cx="3848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5F17A"/>
                </a:solidFill>
                <a:latin typeface="Helvetica Neue"/>
                <a:ea typeface="Helvetica Neue"/>
                <a:cs typeface="Helvetica Neue"/>
              </a:defRPr>
            </a:pPr>
            <a:r>
              <a:rPr sz="2100" b="1">
                <a:solidFill>
                  <a:srgbClr val="C5F17A"/>
                </a:solidFill>
                <a:latin typeface="Helvetica Neue"/>
                <a:ea typeface="Helvetica Neue"/>
                <a:cs typeface="Helvetica Neue"/>
              </a:rPr>
              <a:t>Codex changes</a:t>
            </a:r>
          </a:p>
        </p:txBody>
      </p:sp>
      <p:sp>
        <p:nvSpPr>
          <p:cNvPr id="7" name="shared/contracts.ts">
            <a:extLst xmlns:a="http://schemas.openxmlformats.org/drawingml/2006/main">
              <a:ext uri="{FF2B5EF4-FFF2-40B4-BE49-F238E27FC236}">
                <a16:creationId xmlns:a16="http://schemas.microsoft.com/office/drawing/2014/main" id="{1E79BD37-50D4-4EC9-A01E-593B4ED97C1A}"/>
              </a:ext>
            </a:extLst>
          </p:cNvPr>
          <p:cNvSpPr>
            <a:spLocks xmlns:a="http://schemas.openxmlformats.org/drawingml/2006/main" noGrp="1"/>
          </p:cNvSpPr>
          <p:nvPr/>
        </p:nvSpPr>
        <p:spPr>
          <a:xfrm xmlns:a="http://schemas.openxmlformats.org/drawingml/2006/main">
            <a:off x="838200" y="2962275"/>
            <a:ext cx="3848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1F3EC"/>
                </a:solidFill>
                <a:latin typeface="Helvetica Neue"/>
                <a:ea typeface="Helvetica Neue"/>
                <a:cs typeface="Helvetica Neue"/>
              </a:defRPr>
            </a:pPr>
            <a:r>
              <a:rPr sz="1950" b="0">
                <a:solidFill>
                  <a:srgbClr val="F1F3EC"/>
                </a:solidFill>
                <a:latin typeface="Helvetica Neue"/>
                <a:ea typeface="Helvetica Neue"/>
                <a:cs typeface="Helvetica Neue"/>
              </a:rPr>
              <a:t>shared/contracts.ts</a:t>
            </a:r>
          </a:p>
        </p:txBody>
      </p:sp>
      <p:sp>
        <p:nvSpPr>
          <p:cNvPr id="8" name="Claude changes">
            <a:extLst xmlns:a="http://schemas.openxmlformats.org/drawingml/2006/main">
              <a:ext uri="{FF2B5EF4-FFF2-40B4-BE49-F238E27FC236}">
                <a16:creationId xmlns:a16="http://schemas.microsoft.com/office/drawing/2014/main" id="{4183B2B5-24CE-4D04-9A9E-E24EF2C50B17}"/>
              </a:ext>
            </a:extLst>
          </p:cNvPr>
          <p:cNvSpPr>
            <a:spLocks xmlns:a="http://schemas.openxmlformats.org/drawingml/2006/main" noGrp="1"/>
          </p:cNvSpPr>
          <p:nvPr/>
        </p:nvSpPr>
        <p:spPr>
          <a:xfrm xmlns:a="http://schemas.openxmlformats.org/drawingml/2006/main">
            <a:off x="838200" y="4057650"/>
            <a:ext cx="3848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EEB89C"/>
                </a:solidFill>
                <a:latin typeface="Helvetica Neue"/>
                <a:ea typeface="Helvetica Neue"/>
                <a:cs typeface="Helvetica Neue"/>
              </a:defRPr>
            </a:pPr>
            <a:r>
              <a:rPr sz="2100" b="1">
                <a:solidFill>
                  <a:srgbClr val="EEB89C"/>
                </a:solidFill>
                <a:latin typeface="Helvetica Neue"/>
                <a:ea typeface="Helvetica Neue"/>
                <a:cs typeface="Helvetica Neue"/>
              </a:rPr>
              <a:t>Claude changes</a:t>
            </a:r>
          </a:p>
        </p:txBody>
      </p:sp>
      <p:sp>
        <p:nvSpPr>
          <p:cNvPr id="9" name="shared/contracts.ts">
            <a:extLst xmlns:a="http://schemas.openxmlformats.org/drawingml/2006/main">
              <a:ext uri="{FF2B5EF4-FFF2-40B4-BE49-F238E27FC236}">
                <a16:creationId xmlns:a16="http://schemas.microsoft.com/office/drawing/2014/main" id="{FACE3E77-402C-4E8F-863A-3F9D75C31165}"/>
              </a:ext>
            </a:extLst>
          </p:cNvPr>
          <p:cNvSpPr>
            <a:spLocks xmlns:a="http://schemas.openxmlformats.org/drawingml/2006/main" noGrp="1"/>
          </p:cNvSpPr>
          <p:nvPr/>
        </p:nvSpPr>
        <p:spPr>
          <a:xfrm xmlns:a="http://schemas.openxmlformats.org/drawingml/2006/main">
            <a:off x="838200" y="4505325"/>
            <a:ext cx="3848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1F3EC"/>
                </a:solidFill>
                <a:latin typeface="Helvetica Neue"/>
                <a:ea typeface="Helvetica Neue"/>
                <a:cs typeface="Helvetica Neue"/>
              </a:defRPr>
            </a:pPr>
            <a:r>
              <a:rPr sz="1950" b="0">
                <a:solidFill>
                  <a:srgbClr val="F1F3EC"/>
                </a:solidFill>
                <a:latin typeface="Helvetica Neue"/>
                <a:ea typeface="Helvetica Neue"/>
                <a:cs typeface="Helvetica Neue"/>
              </a:rPr>
              <a:t>shared/contracts.ts</a:t>
            </a:r>
          </a:p>
        </p:txBody>
      </p:sp>
      <p:sp>
        <p:nvSpPr>
          <p:cNvPr id="10" name="Potential overlap">
            <a:extLst xmlns:a="http://schemas.openxmlformats.org/drawingml/2006/main">
              <a:ext uri="{FF2B5EF4-FFF2-40B4-BE49-F238E27FC236}">
                <a16:creationId xmlns:a16="http://schemas.microsoft.com/office/drawing/2014/main" id="{03703476-C255-4218-A4CB-94AC5F97292A}"/>
              </a:ext>
            </a:extLst>
          </p:cNvPr>
          <p:cNvSpPr>
            <a:spLocks xmlns:a="http://schemas.openxmlformats.org/drawingml/2006/main" noGrp="1"/>
          </p:cNvSpPr>
          <p:nvPr/>
        </p:nvSpPr>
        <p:spPr>
          <a:xfrm xmlns:a="http://schemas.openxmlformats.org/drawingml/2006/main">
            <a:off x="7334250" y="3105150"/>
            <a:ext cx="40100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C3B6F4"/>
                </a:solidFill>
                <a:latin typeface="Helvetica Neue"/>
                <a:ea typeface="Helvetica Neue"/>
                <a:cs typeface="Helvetica Neue"/>
              </a:defRPr>
            </a:pPr>
            <a:r>
              <a:rPr sz="2850" b="1">
                <a:solidFill>
                  <a:srgbClr val="C3B6F4"/>
                </a:solidFill>
                <a:latin typeface="Helvetica Neue"/>
                <a:ea typeface="Helvetica Neue"/>
                <a:cs typeface="Helvetica Neue"/>
              </a:rPr>
              <a:t>Potential overlap</a:t>
            </a:r>
          </a:p>
        </p:txBody>
      </p:sp>
      <p:sp>
        <p:nvSpPr>
          <p:cNvPr id="11" name="The team compares the diffs&#10;and coordina">
            <a:extLst xmlns:a="http://schemas.openxmlformats.org/drawingml/2006/main">
              <a:ext uri="{FF2B5EF4-FFF2-40B4-BE49-F238E27FC236}">
                <a16:creationId xmlns:a16="http://schemas.microsoft.com/office/drawing/2014/main" id="{D95AC7CF-FE0E-43DF-B9B7-DC6B82073A02}"/>
              </a:ext>
            </a:extLst>
          </p:cNvPr>
          <p:cNvSpPr>
            <a:spLocks xmlns:a="http://schemas.openxmlformats.org/drawingml/2006/main" noGrp="1"/>
          </p:cNvSpPr>
          <p:nvPr/>
        </p:nvSpPr>
        <p:spPr>
          <a:xfrm xmlns:a="http://schemas.openxmlformats.org/drawingml/2006/main">
            <a:off x="7334250" y="3714750"/>
            <a:ext cx="40100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1F3EC"/>
                </a:solidFill>
                <a:latin typeface="Helvetica Neue"/>
                <a:ea typeface="Helvetica Neue"/>
                <a:cs typeface="Helvetica Neue"/>
              </a:defRPr>
            </a:pPr>
            <a:r>
              <a:rPr sz="1950" b="0">
                <a:solidFill>
                  <a:srgbClr val="F1F3EC"/>
                </a:solidFill>
                <a:latin typeface="Helvetica Neue"/>
                <a:ea typeface="Helvetica Neue"/>
                <a:cs typeface="Helvetica Neue"/>
              </a:rPr>
              <a:t>The team compares the diffs</a:t>
            </a:r>
          </a:p>
          <a:p xmlns:a="http://schemas.openxmlformats.org/drawingml/2006/main">
            <a:pPr algn="l">
              <a:defRPr sz="1950" b="0">
                <a:solidFill>
                  <a:srgbClr val="F1F3EC"/>
                </a:solidFill>
                <a:latin typeface="Helvetica Neue"/>
                <a:ea typeface="Helvetica Neue"/>
                <a:cs typeface="Helvetica Neue"/>
              </a:defRPr>
            </a:pPr>
            <a:r>
              <a:rPr sz="1950" b="0">
                <a:solidFill>
                  <a:srgbClr val="F1F3EC"/>
                </a:solidFill>
                <a:latin typeface="Helvetica Neue"/>
                <a:ea typeface="Helvetica Neue"/>
                <a:cs typeface="Helvetica Neue"/>
              </a:rPr>
              <a:t>and coordinates the edits.</a:t>
            </a:r>
          </a:p>
        </p:txBody>
      </p:sp>
      <p:cxnSp>
        <p:nvCxnSpPr>
          <p:cNvPr id="27" name=""/>
          <p:cNvCxnSpPr>
            <a:stCxn xmlns:a="http://schemas.openxmlformats.org/drawingml/2006/main" id="3" idx="3"/>
            <a:endCxn xmlns:a="http://schemas.openxmlformats.org/drawingml/2006/main" id="5" idx="1"/>
          </p:cNvCxnSpPr>
          <p:nvPr/>
        </p:nvCxnSpPr>
        <p:spPr>
          <a:xfrm xmlns:a="http://schemas.openxmlformats.org/drawingml/2006/main">
            <a:off x="4914900" y="2905125"/>
            <a:ext cx="2181225" cy="762000"/>
          </a:xfrm>
          <a:prstGeom xmlns:a="http://schemas.openxmlformats.org/drawingml/2006/main" prst="bentConnector3">
            <a:avLst>
              <a:gd name="adj1" fmla="val 50000"/>
            </a:avLst>
          </a:prstGeom>
          <a:ln xmlns:a="http://schemas.openxmlformats.org/drawingml/2006/main" w="19050">
            <a:solidFill>
              <a:srgbClr val="B2C0B4"/>
            </a:solidFill>
            <a:tailEnd type="triangle" w="med" len="med"/>
          </a:ln>
        </p:spPr>
      </p:cxnSp>
      <p:cxnSp>
        <p:nvCxnSpPr>
          <p:cNvPr id="28" name=""/>
          <p:cNvCxnSpPr>
            <a:stCxn xmlns:a="http://schemas.openxmlformats.org/drawingml/2006/main" id="4" idx="3"/>
            <a:endCxn xmlns:a="http://schemas.openxmlformats.org/drawingml/2006/main" id="5" idx="1"/>
          </p:cNvCxnSpPr>
          <p:nvPr/>
        </p:nvCxnSpPr>
        <p:spPr>
          <a:xfrm xmlns:a="http://schemas.openxmlformats.org/drawingml/2006/main" flipV="1">
            <a:off x="4914900" y="3667125"/>
            <a:ext cx="2181225" cy="781050"/>
          </a:xfrm>
          <a:prstGeom xmlns:a="http://schemas.openxmlformats.org/drawingml/2006/main" prst="bentConnector3">
            <a:avLst>
              <a:gd name="adj1" fmla="val 50000"/>
            </a:avLst>
          </a:prstGeom>
          <a:ln xmlns:a="http://schemas.openxmlformats.org/drawingml/2006/main" w="19050">
            <a:solidFill>
              <a:srgbClr val="B2C0B4"/>
            </a:solidFill>
            <a:tailEnd type="triangle" w="med" len="med"/>
          </a:ln>
        </p:spPr>
      </p:cxnSp>
      <p:sp>
        <p:nvSpPr>
          <p:cNvPr id="14" name="People review and merge the code with Gi">
            <a:extLst xmlns:a="http://schemas.openxmlformats.org/drawingml/2006/main">
              <a:ext uri="{FF2B5EF4-FFF2-40B4-BE49-F238E27FC236}">
                <a16:creationId xmlns:a16="http://schemas.microsoft.com/office/drawing/2014/main" id="{6B78485D-E476-461D-92BD-E2AAD0FF1B67}"/>
              </a:ext>
            </a:extLst>
          </p:cNvPr>
          <p:cNvSpPr>
            <a:spLocks xmlns:a="http://schemas.openxmlformats.org/drawingml/2006/main" noGrp="1"/>
          </p:cNvSpPr>
          <p:nvPr/>
        </p:nvSpPr>
        <p:spPr>
          <a:xfrm xmlns:a="http://schemas.openxmlformats.org/drawingml/2006/main">
            <a:off x="609600" y="546735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1F3EC"/>
                </a:solidFill>
                <a:latin typeface="Helvetica Neue"/>
                <a:ea typeface="Helvetica Neue"/>
                <a:cs typeface="Helvetica Neue"/>
              </a:defRPr>
            </a:pPr>
            <a:r>
              <a:rPr sz="2700" b="1">
                <a:solidFill>
                  <a:srgbClr val="F1F3EC"/>
                </a:solidFill>
                <a:latin typeface="Helvetica Neue"/>
                <a:ea typeface="Helvetica Neue"/>
                <a:cs typeface="Helvetica Neue"/>
              </a:rPr>
              <a:t>People review and merge the code with Git.</a:t>
            </a:r>
          </a:p>
        </p:txBody>
      </p:sp>
      <p:sp>
        <p:nvSpPr>
          <p:cNvPr id="15" name="File overlap is a signal. Automatic sema">
            <a:extLst xmlns:a="http://schemas.openxmlformats.org/drawingml/2006/main">
              <a:ext uri="{FF2B5EF4-FFF2-40B4-BE49-F238E27FC236}">
                <a16:creationId xmlns:a16="http://schemas.microsoft.com/office/drawing/2014/main" id="{491AAA4E-0FF8-403C-B67D-E5F96CD1FCCE}"/>
              </a:ext>
            </a:extLst>
          </p:cNvPr>
          <p:cNvSpPr>
            <a:spLocks xmlns:a="http://schemas.openxmlformats.org/drawingml/2006/main" noGrp="1"/>
          </p:cNvSpPr>
          <p:nvPr/>
        </p:nvSpPr>
        <p:spPr>
          <a:xfrm xmlns:a="http://schemas.openxmlformats.org/drawingml/2006/main">
            <a:off x="609600" y="613410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B2C0B4"/>
                </a:solidFill>
                <a:latin typeface="Helvetica Neue"/>
                <a:ea typeface="Helvetica Neue"/>
                <a:cs typeface="Helvetica Neue"/>
              </a:defRPr>
            </a:pPr>
            <a:r>
              <a:rPr sz="1800" b="0">
                <a:solidFill>
                  <a:srgbClr val="B2C0B4"/>
                </a:solidFill>
                <a:latin typeface="Helvetica Neue"/>
                <a:ea typeface="Helvetica Neue"/>
                <a:cs typeface="Helvetica Neue"/>
              </a:rPr>
              <a:t>File overlap is a signal. Automatic semantic conflict resolution remains future work.</a:t>
            </a:r>
          </a:p>
        </p:txBody>
      </p:sp>
    </p:spTree>
    <p:extLst>
      <p:ext uri="{BB962C8B-B14F-4D97-AF65-F5344CB8AC3E}">
        <p14:creationId xmlns:p14="http://schemas.microsoft.com/office/powerpoint/2010/main" val="2112712310"/>
      </p:ext>
    </p:extLst>
  </p:cSld>
</p:sld>
</file>

<file path=ppt/slides/slide6.xml><?xml version="1.0" encoding="utf-8"?>
<p:sld xmlns:p="http://schemas.openxmlformats.org/presentationml/2006/main">
  <p:cSld>
    <p:bg>
      <p:bgPr>
        <a:solidFill xmlns:a="http://schemas.openxmlformats.org/drawingml/2006/main">
          <a:srgbClr val="131D18"/>
        </a:solidFill>
      </p:bgPr>
    </p:bg>
    <p:spTree>
      <p:nvGrpSpPr>
        <p:cNvPr id="1" name=""/>
        <p:cNvGrpSpPr/>
        <p:nvPr/>
      </p:nvGrpSpPr>
      <p:grpSpPr>
        <a:xfrm xmlns:a="http://schemas.openxmlformats.org/drawingml/2006/main"/>
      </p:grpSpPr>
      <p:sp>
        <p:nvSpPr>
          <p:cNvPr id="11" name="Prototype scope">
            <a:extLst xmlns:a="http://schemas.openxmlformats.org/drawingml/2006/main">
              <a:ext uri="{FF2B5EF4-FFF2-40B4-BE49-F238E27FC236}">
                <a16:creationId xmlns:a16="http://schemas.microsoft.com/office/drawing/2014/main" id="{1B8BA919-DC83-4585-A23A-10A688565207}"/>
              </a:ext>
            </a:extLst>
          </p:cNvPr>
          <p:cNvSpPr>
            <a:spLocks xmlns:a="http://schemas.openxmlformats.org/drawingml/2006/main" noGrp="1"/>
          </p:cNvSpPr>
          <p:nvPr/>
        </p:nvSpPr>
        <p:spPr>
          <a:xfrm xmlns:a="http://schemas.openxmlformats.org/drawingml/2006/main">
            <a:off x="609600" y="4953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F1F3EC"/>
                </a:solidFill>
                <a:latin typeface="Helvetica Neue"/>
                <a:ea typeface="Helvetica Neue"/>
                <a:cs typeface="Helvetica Neue"/>
              </a:defRPr>
            </a:pPr>
            <a:r>
              <a:rPr sz="3900" b="1">
                <a:solidFill>
                  <a:srgbClr val="F1F3EC"/>
                </a:solidFill>
                <a:latin typeface="Helvetica Neue"/>
                <a:ea typeface="Helvetica Neue"/>
                <a:cs typeface="Helvetica Neue"/>
              </a:rPr>
              <a:t>Prototype scope</a:t>
            </a:r>
          </a:p>
        </p:txBody>
      </p:sp>
      <p:sp>
        <p:nvSpPr>
          <p:cNvPr id="2" name="Collaboration">
            <a:extLst xmlns:a="http://schemas.openxmlformats.org/drawingml/2006/main">
              <a:ext uri="{FF2B5EF4-FFF2-40B4-BE49-F238E27FC236}">
                <a16:creationId xmlns:a16="http://schemas.microsoft.com/office/drawing/2014/main" id="{E4C2346E-AB93-4F51-8C79-DB8B1FA3B711}"/>
              </a:ext>
            </a:extLst>
          </p:cNvPr>
          <p:cNvSpPr>
            <a:spLocks xmlns:a="http://schemas.openxmlformats.org/drawingml/2006/main" noGrp="1"/>
          </p:cNvSpPr>
          <p:nvPr/>
        </p:nvSpPr>
        <p:spPr>
          <a:xfrm xmlns:a="http://schemas.openxmlformats.org/drawingml/2006/main">
            <a:off x="609600" y="1724025"/>
            <a:ext cx="323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C5F17A"/>
                </a:solidFill>
                <a:latin typeface="Helvetica Neue"/>
                <a:ea typeface="Helvetica Neue"/>
                <a:cs typeface="Helvetica Neue"/>
              </a:defRPr>
            </a:pPr>
            <a:r>
              <a:rPr sz="2550" b="1">
                <a:solidFill>
                  <a:srgbClr val="C5F17A"/>
                </a:solidFill>
                <a:latin typeface="Helvetica Neue"/>
                <a:ea typeface="Helvetica Neue"/>
                <a:cs typeface="Helvetica Neue"/>
              </a:rPr>
              <a:t>Collaboration</a:t>
            </a:r>
          </a:p>
        </p:txBody>
      </p:sp>
      <p:sp>
        <p:nvSpPr>
          <p:cNvPr id="3" name="Rooms, live sessions, owner-paced votes,">
            <a:extLst xmlns:a="http://schemas.openxmlformats.org/drawingml/2006/main">
              <a:ext uri="{FF2B5EF4-FFF2-40B4-BE49-F238E27FC236}">
                <a16:creationId xmlns:a16="http://schemas.microsoft.com/office/drawing/2014/main" id="{6F328DFF-A66F-459B-B185-B20D61C2F387}"/>
              </a:ext>
            </a:extLst>
          </p:cNvPr>
          <p:cNvSpPr>
            <a:spLocks xmlns:a="http://schemas.openxmlformats.org/drawingml/2006/main" noGrp="1"/>
          </p:cNvSpPr>
          <p:nvPr/>
        </p:nvSpPr>
        <p:spPr>
          <a:xfrm xmlns:a="http://schemas.openxmlformats.org/drawingml/2006/main">
            <a:off x="4191000" y="1714500"/>
            <a:ext cx="73247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1F3EC"/>
                </a:solidFill>
                <a:latin typeface="Helvetica Neue"/>
                <a:ea typeface="Helvetica Neue"/>
                <a:cs typeface="Helvetica Neue"/>
              </a:defRPr>
            </a:pPr>
            <a:r>
              <a:rPr sz="2175" b="0">
                <a:solidFill>
                  <a:srgbClr val="F1F3EC"/>
                </a:solidFill>
                <a:latin typeface="Helvetica Neue"/>
                <a:ea typeface="Helvetica Neue"/>
                <a:cs typeface="Helvetica Neue"/>
              </a:rPr>
              <a:t>Rooms, live sessions, owner-paced votes,</a:t>
            </a:r>
          </a:p>
          <a:p xmlns:a="http://schemas.openxmlformats.org/drawingml/2006/main">
            <a:pPr algn="l">
              <a:defRPr sz="2175" b="0">
                <a:solidFill>
                  <a:srgbClr val="F1F3EC"/>
                </a:solidFill>
                <a:latin typeface="Helvetica Neue"/>
                <a:ea typeface="Helvetica Neue"/>
                <a:cs typeface="Helvetica Neue"/>
              </a:defRPr>
            </a:pPr>
            <a:r>
              <a:rPr sz="2175" b="0">
                <a:solidFill>
                  <a:srgbClr val="F1F3EC"/>
                </a:solidFill>
                <a:latin typeface="Helvetica Neue"/>
                <a:ea typeface="Helvetica Neue"/>
                <a:cs typeface="Helvetica Neue"/>
              </a:rPr>
              <a:t>per-vote chat, and overlap warnings</a:t>
            </a:r>
          </a:p>
        </p:txBody>
      </p:sp>
      <p:sp>
        <p:nvSpPr>
          <p:cNvPr id="4" name="Local runners">
            <a:extLst xmlns:a="http://schemas.openxmlformats.org/drawingml/2006/main">
              <a:ext uri="{FF2B5EF4-FFF2-40B4-BE49-F238E27FC236}">
                <a16:creationId xmlns:a16="http://schemas.microsoft.com/office/drawing/2014/main" id="{CC32105C-70B7-4007-A467-187DF20D903E}"/>
              </a:ext>
            </a:extLst>
          </p:cNvPr>
          <p:cNvSpPr>
            <a:spLocks xmlns:a="http://schemas.openxmlformats.org/drawingml/2006/main" noGrp="1"/>
          </p:cNvSpPr>
          <p:nvPr/>
        </p:nvSpPr>
        <p:spPr>
          <a:xfrm xmlns:a="http://schemas.openxmlformats.org/drawingml/2006/main">
            <a:off x="609600" y="2819400"/>
            <a:ext cx="323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C3B6F4"/>
                </a:solidFill>
                <a:latin typeface="Helvetica Neue"/>
                <a:ea typeface="Helvetica Neue"/>
                <a:cs typeface="Helvetica Neue"/>
              </a:defRPr>
            </a:pPr>
            <a:r>
              <a:rPr sz="2550" b="1">
                <a:solidFill>
                  <a:srgbClr val="C3B6F4"/>
                </a:solidFill>
                <a:latin typeface="Helvetica Neue"/>
                <a:ea typeface="Helvetica Neue"/>
                <a:cs typeface="Helvetica Neue"/>
              </a:rPr>
              <a:t>Local runners</a:t>
            </a:r>
          </a:p>
        </p:txBody>
      </p:sp>
      <p:sp>
        <p:nvSpPr>
          <p:cNvPr id="5" name="Local runner adapters for Codex and Clau">
            <a:extLst xmlns:a="http://schemas.openxmlformats.org/drawingml/2006/main">
              <a:ext uri="{FF2B5EF4-FFF2-40B4-BE49-F238E27FC236}">
                <a16:creationId xmlns:a16="http://schemas.microsoft.com/office/drawing/2014/main" id="{7C644C86-729B-477E-8AD5-9A42AD3B1ADB}"/>
              </a:ext>
            </a:extLst>
          </p:cNvPr>
          <p:cNvSpPr>
            <a:spLocks xmlns:a="http://schemas.openxmlformats.org/drawingml/2006/main" noGrp="1"/>
          </p:cNvSpPr>
          <p:nvPr/>
        </p:nvSpPr>
        <p:spPr>
          <a:xfrm xmlns:a="http://schemas.openxmlformats.org/drawingml/2006/main">
            <a:off x="4191000" y="2809875"/>
            <a:ext cx="73247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1F3EC"/>
                </a:solidFill>
                <a:latin typeface="Helvetica Neue"/>
                <a:ea typeface="Helvetica Neue"/>
                <a:cs typeface="Helvetica Neue"/>
              </a:defRPr>
            </a:pPr>
            <a:r>
              <a:rPr sz="2175" b="0">
                <a:solidFill>
                  <a:srgbClr val="F1F3EC"/>
                </a:solidFill>
                <a:latin typeface="Helvetica Neue"/>
                <a:ea typeface="Helvetica Neue"/>
                <a:cs typeface="Helvetica Neue"/>
              </a:rPr>
              <a:t>Local runner adapters for Codex and Claude.</a:t>
            </a:r>
          </a:p>
          <a:p xmlns:a="http://schemas.openxmlformats.org/drawingml/2006/main">
            <a:pPr algn="l">
              <a:defRPr sz="2175" b="0">
                <a:solidFill>
                  <a:srgbClr val="F1F3EC"/>
                </a:solidFill>
                <a:latin typeface="Helvetica Neue"/>
                <a:ea typeface="Helvetica Neue"/>
                <a:cs typeface="Helvetica Neue"/>
              </a:defRPr>
            </a:pPr>
            <a:r>
              <a:rPr sz="2175" b="0">
                <a:solidFill>
                  <a:srgbClr val="F1F3EC"/>
                </a:solidFill>
                <a:latin typeface="Helvetica Neue"/>
                <a:ea typeface="Helvetica Neue"/>
                <a:cs typeface="Helvetica Neue"/>
              </a:rPr>
              <a:t>Harness credentials stay on each machine.</a:t>
            </a:r>
          </a:p>
        </p:txBody>
      </p:sp>
      <p:sp>
        <p:nvSpPr>
          <p:cNvPr id="6" name="Next validation">
            <a:extLst xmlns:a="http://schemas.openxmlformats.org/drawingml/2006/main">
              <a:ext uri="{FF2B5EF4-FFF2-40B4-BE49-F238E27FC236}">
                <a16:creationId xmlns:a16="http://schemas.microsoft.com/office/drawing/2014/main" id="{AA062CD8-7A13-4BF0-87FE-492C9146E6DB}"/>
              </a:ext>
            </a:extLst>
          </p:cNvPr>
          <p:cNvSpPr>
            <a:spLocks xmlns:a="http://schemas.openxmlformats.org/drawingml/2006/main" noGrp="1"/>
          </p:cNvSpPr>
          <p:nvPr/>
        </p:nvSpPr>
        <p:spPr>
          <a:xfrm xmlns:a="http://schemas.openxmlformats.org/drawingml/2006/main">
            <a:off x="609600" y="3914775"/>
            <a:ext cx="323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EEB89C"/>
                </a:solidFill>
                <a:latin typeface="Helvetica Neue"/>
                <a:ea typeface="Helvetica Neue"/>
                <a:cs typeface="Helvetica Neue"/>
              </a:defRPr>
            </a:pPr>
            <a:r>
              <a:rPr sz="2550" b="1">
                <a:solidFill>
                  <a:srgbClr val="EEB89C"/>
                </a:solidFill>
                <a:latin typeface="Helvetica Neue"/>
                <a:ea typeface="Helvetica Neue"/>
                <a:cs typeface="Helvetica Neue"/>
              </a:rPr>
              <a:t>Next validation</a:t>
            </a:r>
          </a:p>
        </p:txBody>
      </p:sp>
      <p:sp>
        <p:nvSpPr>
          <p:cNvPr id="7" name="Run the complete workflow across separat">
            <a:extLst xmlns:a="http://schemas.openxmlformats.org/drawingml/2006/main">
              <a:ext uri="{FF2B5EF4-FFF2-40B4-BE49-F238E27FC236}">
                <a16:creationId xmlns:a16="http://schemas.microsoft.com/office/drawing/2014/main" id="{CA4FDD26-D3AA-4643-91EB-6EE8C3CFF7A7}"/>
              </a:ext>
            </a:extLst>
          </p:cNvPr>
          <p:cNvSpPr>
            <a:spLocks xmlns:a="http://schemas.openxmlformats.org/drawingml/2006/main" noGrp="1"/>
          </p:cNvSpPr>
          <p:nvPr/>
        </p:nvSpPr>
        <p:spPr>
          <a:xfrm xmlns:a="http://schemas.openxmlformats.org/drawingml/2006/main">
            <a:off x="4191000" y="3905250"/>
            <a:ext cx="73247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1F3EC"/>
                </a:solidFill>
                <a:latin typeface="Helvetica Neue"/>
                <a:ea typeface="Helvetica Neue"/>
                <a:cs typeface="Helvetica Neue"/>
              </a:defRPr>
            </a:pPr>
            <a:r>
              <a:rPr sz="2175" b="0">
                <a:solidFill>
                  <a:srgbClr val="F1F3EC"/>
                </a:solidFill>
                <a:latin typeface="Helvetica Neue"/>
                <a:ea typeface="Helvetica Neue"/>
                <a:cs typeface="Helvetica Neue"/>
              </a:rPr>
              <a:t>Run the complete workflow across separate</a:t>
            </a:r>
          </a:p>
          <a:p xmlns:a="http://schemas.openxmlformats.org/drawingml/2006/main">
            <a:pPr algn="l">
              <a:defRPr sz="2175" b="0">
                <a:solidFill>
                  <a:srgbClr val="F1F3EC"/>
                </a:solidFill>
                <a:latin typeface="Helvetica Neue"/>
                <a:ea typeface="Helvetica Neue"/>
                <a:cs typeface="Helvetica Neue"/>
              </a:defRPr>
            </a:pPr>
            <a:r>
              <a:rPr sz="2175" b="0">
                <a:solidFill>
                  <a:srgbClr val="F1F3EC"/>
                </a:solidFill>
                <a:latin typeface="Helvetica Neue"/>
                <a:ea typeface="Helvetica Neue"/>
                <a:cs typeface="Helvetica Neue"/>
              </a:rPr>
              <a:t>computers with real harness sessions.</a:t>
            </a:r>
          </a:p>
        </p:txBody>
      </p:sp>
      <p:sp>
        <p:nvSpPr>
          <p:cNvPr id="8" name="Future adapters">
            <a:extLst xmlns:a="http://schemas.openxmlformats.org/drawingml/2006/main">
              <a:ext uri="{FF2B5EF4-FFF2-40B4-BE49-F238E27FC236}">
                <a16:creationId xmlns:a16="http://schemas.microsoft.com/office/drawing/2014/main" id="{DA68E9E1-3BE4-4705-9AE7-A51D6210D757}"/>
              </a:ext>
            </a:extLst>
          </p:cNvPr>
          <p:cNvSpPr>
            <a:spLocks xmlns:a="http://schemas.openxmlformats.org/drawingml/2006/main" noGrp="1"/>
          </p:cNvSpPr>
          <p:nvPr/>
        </p:nvSpPr>
        <p:spPr>
          <a:xfrm xmlns:a="http://schemas.openxmlformats.org/drawingml/2006/main">
            <a:off x="609600" y="5010150"/>
            <a:ext cx="323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B2C0B4"/>
                </a:solidFill>
                <a:latin typeface="Helvetica Neue"/>
                <a:ea typeface="Helvetica Neue"/>
                <a:cs typeface="Helvetica Neue"/>
              </a:defRPr>
            </a:pPr>
            <a:r>
              <a:rPr sz="2550" b="1">
                <a:solidFill>
                  <a:srgbClr val="B2C0B4"/>
                </a:solidFill>
                <a:latin typeface="Helvetica Neue"/>
                <a:ea typeface="Helvetica Neue"/>
                <a:cs typeface="Helvetica Neue"/>
              </a:rPr>
              <a:t>Future adapters</a:t>
            </a:r>
          </a:p>
        </p:txBody>
      </p:sp>
      <p:sp>
        <p:nvSpPr>
          <p:cNvPr id="9" name="Gemini and additional harnesses">
            <a:extLst xmlns:a="http://schemas.openxmlformats.org/drawingml/2006/main">
              <a:ext uri="{FF2B5EF4-FFF2-40B4-BE49-F238E27FC236}">
                <a16:creationId xmlns:a16="http://schemas.microsoft.com/office/drawing/2014/main" id="{C5D34374-E576-46CA-86F5-047CB7756283}"/>
              </a:ext>
            </a:extLst>
          </p:cNvPr>
          <p:cNvSpPr>
            <a:spLocks xmlns:a="http://schemas.openxmlformats.org/drawingml/2006/main" noGrp="1"/>
          </p:cNvSpPr>
          <p:nvPr/>
        </p:nvSpPr>
        <p:spPr>
          <a:xfrm xmlns:a="http://schemas.openxmlformats.org/drawingml/2006/main">
            <a:off x="4191000" y="5000625"/>
            <a:ext cx="73247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1F3EC"/>
                </a:solidFill>
                <a:latin typeface="Helvetica Neue"/>
                <a:ea typeface="Helvetica Neue"/>
                <a:cs typeface="Helvetica Neue"/>
              </a:defRPr>
            </a:pPr>
            <a:r>
              <a:rPr sz="2175" b="0">
                <a:solidFill>
                  <a:srgbClr val="F1F3EC"/>
                </a:solidFill>
                <a:latin typeface="Helvetica Neue"/>
                <a:ea typeface="Helvetica Neue"/>
                <a:cs typeface="Helvetica Neue"/>
              </a:rPr>
              <a:t>Gemini and additional harnesses</a:t>
            </a:r>
          </a:p>
        </p:txBody>
      </p:sp>
      <p:sp>
        <p:nvSpPr>
          <p:cNvPr id="10" name="Host mode also runs Codex sessions on th">
            <a:extLst xmlns:a="http://schemas.openxmlformats.org/drawingml/2006/main">
              <a:ext uri="{FF2B5EF4-FFF2-40B4-BE49-F238E27FC236}">
                <a16:creationId xmlns:a16="http://schemas.microsoft.com/office/drawing/2014/main" id="{05FEB55A-5D94-495A-976A-9D93BCEB4E18}"/>
              </a:ext>
            </a:extLst>
          </p:cNvPr>
          <p:cNvSpPr>
            <a:spLocks xmlns:a="http://schemas.openxmlformats.org/drawingml/2006/main" noGrp="1"/>
          </p:cNvSpPr>
          <p:nvPr/>
        </p:nvSpPr>
        <p:spPr>
          <a:xfrm xmlns:a="http://schemas.openxmlformats.org/drawingml/2006/main">
            <a:off x="609600" y="6267450"/>
            <a:ext cx="10934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B2C0B4"/>
                </a:solidFill>
                <a:latin typeface="Helvetica Neue"/>
                <a:ea typeface="Helvetica Neue"/>
                <a:cs typeface="Helvetica Neue"/>
              </a:defRPr>
            </a:pPr>
            <a:r>
              <a:rPr sz="1800" b="0">
                <a:solidFill>
                  <a:srgbClr val="B2C0B4"/>
                </a:solidFill>
                <a:latin typeface="Helvetica Neue"/>
                <a:ea typeface="Helvetica Neue"/>
                <a:cs typeface="Helvetica Neue"/>
              </a:rPr>
              <a:t>Host mode also runs Codex sessions on the server computer.</a:t>
            </a:r>
          </a:p>
        </p:txBody>
      </p:sp>
    </p:spTree>
    <p:extLst>
      <p:ext uri="{BB962C8B-B14F-4D97-AF65-F5344CB8AC3E}">
        <p14:creationId xmlns:p14="http://schemas.microsoft.com/office/powerpoint/2010/main" val="1867083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2026-10-03T16:17:07.1960000Z</dcterms:created>
  <dcterms:modified xsi:type="dcterms:W3CDTF">2026-10-03T16:17:07.1960000Z</dcterms:modified>
</coreProperties>
</file>